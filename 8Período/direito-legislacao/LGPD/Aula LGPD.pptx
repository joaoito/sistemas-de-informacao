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8" r:id="rId4"/>
    <p:sldId id="259" r:id="rId5"/>
    <p:sldId id="260" r:id="rId6"/>
    <p:sldId id="261" r:id="rId7"/>
    <p:sldId id="262" r:id="rId8"/>
    <p:sldId id="263" r:id="rId9"/>
    <p:sldId id="273" r:id="rId10"/>
    <p:sldId id="276" r:id="rId11"/>
    <p:sldId id="264" r:id="rId12"/>
    <p:sldId id="265" r:id="rId13"/>
    <p:sldId id="272" r:id="rId14"/>
    <p:sldId id="266" r:id="rId15"/>
    <p:sldId id="269" r:id="rId16"/>
    <p:sldId id="270" r:id="rId17"/>
    <p:sldId id="271" r:id="rId18"/>
    <p:sldId id="274" r:id="rId19"/>
    <p:sldId id="275" r:id="rId20"/>
    <p:sldId id="278" r:id="rId21"/>
    <p:sldId id="277" r:id="rId22"/>
    <p:sldId id="267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51"/>
    <p:restoredTop sz="94681"/>
  </p:normalViewPr>
  <p:slideViewPr>
    <p:cSldViewPr snapToGrid="0" snapToObjects="1">
      <p:cViewPr varScale="1">
        <p:scale>
          <a:sx n="116" d="100"/>
          <a:sy n="116" d="100"/>
        </p:scale>
        <p:origin x="5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CE7F22-2862-7244-948B-E3DEB6AFEE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CC87CD-911A-2449-BDB5-F2226555B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0498BF-DBC0-AE49-9895-6302311F8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A31CD-C643-654A-A1DB-5195E2EFB038}" type="datetimeFigureOut">
              <a:rPr lang="pt-BR" smtClean="0"/>
              <a:t>30/11/2024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4A8AC6-BE77-7E4E-B7B1-8D8A055DB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B51414-A0C8-9E4F-AD76-7BE77D5A6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1033-16DE-D84A-833B-24DDC3FD31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0691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838533-7C72-6E4B-BB22-64E2BC71C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756CDB-1B31-744F-A1B2-0C06C5C80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727107-2447-CC41-8032-EE26D7B52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A31CD-C643-654A-A1DB-5195E2EFB038}" type="datetimeFigureOut">
              <a:rPr lang="pt-BR" smtClean="0"/>
              <a:t>30/11/2024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6E205C-677C-1C4C-9245-C94B673C0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C5A0E9-AD9C-FD46-A12B-55F2177DA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1033-16DE-D84A-833B-24DDC3FD31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7129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252AD-560C-E347-AB49-EE3B2CCFE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78F4C3-9AC8-6743-8F91-DD681DB8B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950154-C27C-2349-9EA4-A25C01B9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A31CD-C643-654A-A1DB-5195E2EFB038}" type="datetimeFigureOut">
              <a:rPr lang="pt-BR" smtClean="0"/>
              <a:t>30/11/2024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B16D19-8540-9742-B2EB-21A5A28A3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C7BB76-F5E0-4E42-ABB3-7626F5AD8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1033-16DE-D84A-833B-24DDC3FD31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400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F298B9-A1AF-3546-8033-3385CA380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536537-5E81-8A41-97D8-5DEDD325D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9F9A8E9-8696-604E-A278-3B2B2C2B9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97F9A1-7B83-854D-BF12-8839680DC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A31CD-C643-654A-A1DB-5195E2EFB038}" type="datetimeFigureOut">
              <a:rPr lang="pt-BR" smtClean="0"/>
              <a:t>30/11/2024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DF9F9B-7949-C34A-AC9F-6284EC2BF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3CB955-7310-DC4E-BACC-EE2107FA4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1033-16DE-D84A-833B-24DDC3FD31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3165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16C0D-2367-3D43-8AD1-14904E214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D92C561-9EC4-2546-8FAC-E6B75248C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59F64B-658B-954D-BCB8-5191CA70B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C40147B-22F1-6B48-B32C-CA92F56B54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81C205F-2716-C449-A263-2AEF6F2BC7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CCE92C8-D514-B34E-BEAE-B642A6CF8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A31CD-C643-654A-A1DB-5195E2EFB038}" type="datetimeFigureOut">
              <a:rPr lang="pt-BR" smtClean="0"/>
              <a:t>30/11/2024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3C97BEF-126B-5F46-BCE0-7F8FD5E7E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CA8669E-2688-3948-A8A8-22D8BDC5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1033-16DE-D84A-833B-24DDC3FD31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981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DE644F-1050-A140-8000-3B2845F45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50C9354-1947-F94E-BCAA-C91DBC39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A31CD-C643-654A-A1DB-5195E2EFB038}" type="datetimeFigureOut">
              <a:rPr lang="pt-BR" smtClean="0"/>
              <a:t>30/11/2024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5523885-D225-154C-92E5-14191694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50CE093-D547-1B41-8162-FAC38F939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1033-16DE-D84A-833B-24DDC3FD31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7570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088D688-CD32-FC44-A6D7-B7811D6F6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A31CD-C643-654A-A1DB-5195E2EFB038}" type="datetimeFigureOut">
              <a:rPr lang="pt-BR" smtClean="0"/>
              <a:t>30/11/2024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C82ADB1-5B6A-FC40-89ED-C7CB069F8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604D413-4E1F-A645-9032-0959A3D8F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1033-16DE-D84A-833B-24DDC3FD31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1047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320FA4-919E-DD42-B0B4-F4A6E3DDE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C5D021-02C7-E548-9E08-336298A38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79C0203-4C46-BD45-8D6F-23B909E6D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8476FD-C620-3C4C-BAC7-59E0B6F4A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A31CD-C643-654A-A1DB-5195E2EFB038}" type="datetimeFigureOut">
              <a:rPr lang="pt-BR" smtClean="0"/>
              <a:t>30/11/2024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51C57C-4A67-424D-826C-CE9FFD090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0519D4-97FE-9E47-8D29-59CC4236B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1033-16DE-D84A-833B-24DDC3FD31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6298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3755C9-8B85-D24E-8509-324BEC86B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E091BD-2C5D-9546-83B5-3A65FFDDE2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A5D9459-F790-5C46-8EFE-162BB3C74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FA4EA6-CEFA-6443-B88F-7805B184F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A31CD-C643-654A-A1DB-5195E2EFB038}" type="datetimeFigureOut">
              <a:rPr lang="pt-BR" smtClean="0"/>
              <a:t>30/11/2024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F5E3AA-5B6D-6A4C-845D-4DCDC7145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B2040A6-73E4-C34A-90EF-622CFF869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1033-16DE-D84A-833B-24DDC3FD31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3088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B143F-DE11-2F42-A558-C54266BE3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E598306-ADC1-4046-B1EC-64C4418A0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28703B-853C-F143-8154-788023B5C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A31CD-C643-654A-A1DB-5195E2EFB038}" type="datetimeFigureOut">
              <a:rPr lang="pt-BR" smtClean="0"/>
              <a:t>30/11/2024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3B58A9-346E-E24D-9902-0A0AB3B09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FFB7F0-36A9-9042-96F1-D79162404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1033-16DE-D84A-833B-24DDC3FD31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947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0C2CFA-866B-F64D-8B9D-1DA0B518F6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78C45F8-7B4F-3043-BB71-C3A021DDF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C42628-8B6A-6046-996E-AB819F82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A31CD-C643-654A-A1DB-5195E2EFB038}" type="datetimeFigureOut">
              <a:rPr lang="pt-BR" smtClean="0"/>
              <a:t>30/11/2024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393042-3A5F-6C42-AE87-B0B577DC7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46478C-2425-764C-99A7-F54B0BD45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1033-16DE-D84A-833B-24DDC3FD31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8789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95AF282-5FD5-9A48-BDA3-137DFE43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C02775-1068-5145-AC96-DA4718BD4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772542-C9B6-1841-8E1C-E3B1194F9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A31CD-C643-654A-A1DB-5195E2EFB038}" type="datetimeFigureOut">
              <a:rPr lang="pt-BR" smtClean="0"/>
              <a:t>30/11/2024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B0B169-D43C-9C45-BB28-EC17E472C2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5F0BFF-4695-164F-9827-3734EE059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F11033-16DE-D84A-833B-24DDC3FD31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8411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8813FE-D768-B640-9264-A9AFDBAA0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9987"/>
            <a:ext cx="9144000" cy="184997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pt-BR" dirty="0"/>
              <a:t>LEI GERAL DE PROTEÇÃO DE DADOS</a:t>
            </a:r>
          </a:p>
        </p:txBody>
      </p:sp>
    </p:spTree>
    <p:extLst>
      <p:ext uri="{BB962C8B-B14F-4D97-AF65-F5344CB8AC3E}">
        <p14:creationId xmlns:p14="http://schemas.microsoft.com/office/powerpoint/2010/main" val="2973554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7C9096B-692F-8A49-A0A2-8ED58BF12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4481"/>
          </a:xfrm>
        </p:spPr>
        <p:txBody>
          <a:bodyPr/>
          <a:lstStyle/>
          <a:p>
            <a:pPr algn="ctr"/>
            <a:r>
              <a:rPr lang="pt-BR" b="1" dirty="0"/>
              <a:t>FOCO: PROTEÇÃO DOS DADOS PESSOAIS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FF484DC-AF9D-7ECE-4FB8-E38F7A21BBE9}"/>
              </a:ext>
            </a:extLst>
          </p:cNvPr>
          <p:cNvGrpSpPr/>
          <p:nvPr/>
        </p:nvGrpSpPr>
        <p:grpSpPr>
          <a:xfrm>
            <a:off x="0" y="621713"/>
            <a:ext cx="12192000" cy="5919382"/>
            <a:chOff x="0" y="621713"/>
            <a:chExt cx="12192000" cy="5919382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D9B315ED-A4A7-D941-9F60-D1956EE09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21713"/>
              <a:ext cx="12192000" cy="5919382"/>
            </a:xfrm>
            <a:prstGeom prst="rect">
              <a:avLst/>
            </a:prstGeom>
          </p:spPr>
        </p:pic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58576E30-39B7-BC49-A5E1-8DD5464D99C8}"/>
                </a:ext>
              </a:extLst>
            </p:cNvPr>
            <p:cNvSpPr txBox="1"/>
            <p:nvPr/>
          </p:nvSpPr>
          <p:spPr>
            <a:xfrm>
              <a:off x="6395418" y="5781728"/>
              <a:ext cx="295421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pt-BR" sz="1200" dirty="0"/>
                <a:t>Setembro/2020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980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3" name="Rectangle 2072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43C780-217B-C0AA-46F9-C401986C0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Estrutura LGPD</a:t>
            </a:r>
          </a:p>
        </p:txBody>
      </p:sp>
      <p:grpSp>
        <p:nvGrpSpPr>
          <p:cNvPr id="2075" name="Group 207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76" name="Rectangle 207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7" name="Rectangle 207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8" name="Rectangle 207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80" name="Rectangle 2079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2" name="Rectangle 208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C7C3CDF-2058-AEF1-4B3A-1BEB354CA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67978" y="-38220"/>
            <a:ext cx="7297588" cy="689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204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iagrama, Linha do tempo&#10;&#10;Descrição gerada automaticamente">
            <a:extLst>
              <a:ext uri="{FF2B5EF4-FFF2-40B4-BE49-F238E27FC236}">
                <a16:creationId xmlns:a16="http://schemas.microsoft.com/office/drawing/2014/main" id="{DD1913C0-7946-874C-AE5A-696036EB5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584"/>
            <a:ext cx="12192000" cy="628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509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Gráfico, Gráfico de explosão solar&#10;&#10;Descrição gerada automaticamente">
            <a:extLst>
              <a:ext uri="{FF2B5EF4-FFF2-40B4-BE49-F238E27FC236}">
                <a16:creationId xmlns:a16="http://schemas.microsoft.com/office/drawing/2014/main" id="{8CA27F3C-F17A-4F4C-9A83-11DC57DC9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860"/>
            <a:ext cx="12192000" cy="641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89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iagrama&#10;&#10;Descrição gerada automaticamente">
            <a:extLst>
              <a:ext uri="{FF2B5EF4-FFF2-40B4-BE49-F238E27FC236}">
                <a16:creationId xmlns:a16="http://schemas.microsoft.com/office/drawing/2014/main" id="{1575B508-A16A-DE40-876B-8ECCD6A2A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132"/>
            <a:ext cx="12192000" cy="632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34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iagrama&#10;&#10;Descrição gerada automaticamente">
            <a:extLst>
              <a:ext uri="{FF2B5EF4-FFF2-40B4-BE49-F238E27FC236}">
                <a16:creationId xmlns:a16="http://schemas.microsoft.com/office/drawing/2014/main" id="{12EC401F-1F5E-C540-BA0B-AB20E66F8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584"/>
            <a:ext cx="12192000" cy="628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51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374B650-A693-2345-98D4-A358C239D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416"/>
            <a:ext cx="12192000" cy="6371167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75E302D4-7FBB-EF41-95E7-E277D7F9F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1650" y="0"/>
            <a:ext cx="10206990" cy="804481"/>
          </a:xfr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pt-BR" b="1" dirty="0"/>
              <a:t>SANÇÕES ADMINISTRATIVAS</a:t>
            </a:r>
          </a:p>
        </p:txBody>
      </p:sp>
    </p:spTree>
    <p:extLst>
      <p:ext uri="{BB962C8B-B14F-4D97-AF65-F5344CB8AC3E}">
        <p14:creationId xmlns:p14="http://schemas.microsoft.com/office/powerpoint/2010/main" val="3028316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20708-E321-9262-D58C-140C7FBB5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146" name="Picture 2" descr="LGPD Multas">
            <a:extLst>
              <a:ext uri="{FF2B5EF4-FFF2-40B4-BE49-F238E27FC236}">
                <a16:creationId xmlns:a16="http://schemas.microsoft.com/office/drawing/2014/main" id="{C092D85E-30B7-C10E-6780-FF03EC7B4F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2" b="8921"/>
          <a:stretch/>
        </p:blipFill>
        <p:spPr bwMode="auto">
          <a:xfrm>
            <a:off x="812292" y="0"/>
            <a:ext cx="1054150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0C854B6-3B2F-224E-D5A4-30E753DADA3C}"/>
              </a:ext>
            </a:extLst>
          </p:cNvPr>
          <p:cNvSpPr txBox="1"/>
          <p:nvPr/>
        </p:nvSpPr>
        <p:spPr>
          <a:xfrm>
            <a:off x="8062175" y="6123543"/>
            <a:ext cx="3291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Poder Público: Todas exceto multa.</a:t>
            </a:r>
          </a:p>
        </p:txBody>
      </p:sp>
    </p:spTree>
    <p:extLst>
      <p:ext uri="{BB962C8B-B14F-4D97-AF65-F5344CB8AC3E}">
        <p14:creationId xmlns:p14="http://schemas.microsoft.com/office/powerpoint/2010/main" val="420970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B76382-361F-7990-F761-EC6FCEC67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218" name="Picture 2" descr="imagem10">
            <a:extLst>
              <a:ext uri="{FF2B5EF4-FFF2-40B4-BE49-F238E27FC236}">
                <a16:creationId xmlns:a16="http://schemas.microsoft.com/office/drawing/2014/main" id="{4AE31BB2-6D37-75D2-9776-1466CEB712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7" b="22381"/>
          <a:stretch/>
        </p:blipFill>
        <p:spPr bwMode="auto">
          <a:xfrm>
            <a:off x="0" y="351028"/>
            <a:ext cx="12192000" cy="6066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3657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, Polígono&#10;&#10;Descrição gerada automaticamente">
            <a:extLst>
              <a:ext uri="{FF2B5EF4-FFF2-40B4-BE49-F238E27FC236}">
                <a16:creationId xmlns:a16="http://schemas.microsoft.com/office/drawing/2014/main" id="{ADDBD460-0CAF-2E49-BA14-1491079AD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876"/>
            <a:ext cx="12192000" cy="638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977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iagrama&#10;&#10;Descrição gerada automaticamente">
            <a:extLst>
              <a:ext uri="{FF2B5EF4-FFF2-40B4-BE49-F238E27FC236}">
                <a16:creationId xmlns:a16="http://schemas.microsoft.com/office/drawing/2014/main" id="{342DD994-FB78-DE4F-9BBF-C6E694F23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009"/>
            <a:ext cx="12192000" cy="628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326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87E4CC8-9BA4-B8EE-22CC-DFB081F7E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Tratamento dos dados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F49200B-A935-70FF-E40F-B97F200C5B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9" b="8800"/>
          <a:stretch/>
        </p:blipFill>
        <p:spPr bwMode="auto">
          <a:xfrm>
            <a:off x="444554" y="1396589"/>
            <a:ext cx="11302892" cy="5461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7790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Diagrama&#10;&#10;Descrição gerada automaticamente">
            <a:extLst>
              <a:ext uri="{FF2B5EF4-FFF2-40B4-BE49-F238E27FC236}">
                <a16:creationId xmlns:a16="http://schemas.microsoft.com/office/drawing/2014/main" id="{FDDBB29D-F6F1-684D-922D-759C16E16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4481"/>
            <a:ext cx="12192000" cy="6053519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3CE32070-82CA-5545-A3FF-9628217D6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4481"/>
          </a:xfrm>
        </p:spPr>
        <p:txBody>
          <a:bodyPr/>
          <a:lstStyle/>
          <a:p>
            <a:pPr algn="ctr"/>
            <a:r>
              <a:rPr lang="pt-BR" b="1" dirty="0"/>
              <a:t>10 PASSOS PARA IMPLANTAR A LGPD</a:t>
            </a:r>
          </a:p>
        </p:txBody>
      </p:sp>
    </p:spTree>
    <p:extLst>
      <p:ext uri="{BB962C8B-B14F-4D97-AF65-F5344CB8AC3E}">
        <p14:creationId xmlns:p14="http://schemas.microsoft.com/office/powerpoint/2010/main" val="2843756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Flowchart: Document 1030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474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6C7C52-F200-4053-6C87-89DDD0A74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Conformidade LGPD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E9BFCD5D-A6EA-4A9A-C95F-DBB74EE9D7E6}"/>
              </a:ext>
            </a:extLst>
          </p:cNvPr>
          <p:cNvGrpSpPr/>
          <p:nvPr/>
        </p:nvGrpSpPr>
        <p:grpSpPr>
          <a:xfrm>
            <a:off x="4765184" y="0"/>
            <a:ext cx="6207616" cy="6835518"/>
            <a:chOff x="4765184" y="0"/>
            <a:chExt cx="6207616" cy="683551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CFB2A311-38CE-6D52-FC50-AC2E52A859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65184" y="51237"/>
              <a:ext cx="6207616" cy="67842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A72C7624-F0D8-ACBB-060D-7D4A06F049F2}"/>
                </a:ext>
              </a:extLst>
            </p:cNvPr>
            <p:cNvSpPr/>
            <p:nvPr/>
          </p:nvSpPr>
          <p:spPr>
            <a:xfrm>
              <a:off x="7228114" y="0"/>
              <a:ext cx="1709057" cy="18030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66500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50729F-C684-D0A0-48B6-2277FD39B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074" name="Picture 2" descr="Comparação em LGPD e LAI">
            <a:extLst>
              <a:ext uri="{FF2B5EF4-FFF2-40B4-BE49-F238E27FC236}">
                <a16:creationId xmlns:a16="http://schemas.microsoft.com/office/drawing/2014/main" id="{AA535E70-92B1-7CE6-4C4C-D6E6BEB74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0"/>
            <a:ext cx="111442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636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B67935-5D1D-4985-88B9-D2AA36462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7C6C016-C66B-92CF-213F-002488E39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903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9031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3043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C85D515-CC9C-BC55-2F1C-C17410F43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532214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Estrutura ANPD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B50EDE5-3D05-5536-C1AA-A5A9A7DDC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38" y="372872"/>
            <a:ext cx="10382324" cy="495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91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7B4174-371F-2F12-9BE5-055B4FC1B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994F3E23-F50B-CD0B-A9D6-CC3EF56C43B6}"/>
              </a:ext>
            </a:extLst>
          </p:cNvPr>
          <p:cNvGrpSpPr/>
          <p:nvPr/>
        </p:nvGrpSpPr>
        <p:grpSpPr>
          <a:xfrm>
            <a:off x="42892" y="0"/>
            <a:ext cx="12149108" cy="6858000"/>
            <a:chOff x="42892" y="0"/>
            <a:chExt cx="12149108" cy="6858000"/>
          </a:xfrm>
        </p:grpSpPr>
        <p:pic>
          <p:nvPicPr>
            <p:cNvPr id="6" name="Imagem 5" descr="Interface gráfica do usuário&#10;&#10;Descrição gerada automaticamente">
              <a:extLst>
                <a:ext uri="{FF2B5EF4-FFF2-40B4-BE49-F238E27FC236}">
                  <a16:creationId xmlns:a16="http://schemas.microsoft.com/office/drawing/2014/main" id="{D1C82306-8C72-B875-012E-B00E590A0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892" y="0"/>
              <a:ext cx="12149108" cy="6858000"/>
            </a:xfrm>
            <a:prstGeom prst="rect">
              <a:avLst/>
            </a:prstGeom>
          </p:spPr>
        </p:pic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FB3B0AAB-9EF6-94B4-1CA0-77E7065711E7}"/>
                </a:ext>
              </a:extLst>
            </p:cNvPr>
            <p:cNvSpPr/>
            <p:nvPr/>
          </p:nvSpPr>
          <p:spPr>
            <a:xfrm>
              <a:off x="7941357" y="0"/>
              <a:ext cx="4207099" cy="9517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198268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68C17E-D19C-314D-37A7-042E7CC6C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9FA31B9F-368C-6D5E-CC70-7BCF3EBAD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32" y="1923941"/>
            <a:ext cx="11009735" cy="438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86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AE5BC-6884-3680-FA61-C3692D45E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 descr="Interface gráfica do usuário&#10;&#10;Descrição gerada automaticamente">
            <a:extLst>
              <a:ext uri="{FF2B5EF4-FFF2-40B4-BE49-F238E27FC236}">
                <a16:creationId xmlns:a16="http://schemas.microsoft.com/office/drawing/2014/main" id="{74C1BD04-8298-8793-8705-89F415ADD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16" y="365125"/>
            <a:ext cx="11927167" cy="601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4692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49B0F0-04B2-214B-9460-C226331B8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REFERÊNCIA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1F3AFB-F6A9-8740-AC73-7CB32803E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GUIA DE BOAS PRÁTICAS LEI GERAL DE PROTEÇÃO DE DADOS (LGPD). GOVERNO FEDERAL, 2020.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04897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60</Words>
  <Application>Microsoft Macintosh PowerPoint</Application>
  <PresentationFormat>Widescreen</PresentationFormat>
  <Paragraphs>12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Tema do Office</vt:lpstr>
      <vt:lpstr>LEI GERAL DE PROTEÇÃO DE DADOS</vt:lpstr>
      <vt:lpstr>FOCO: PROTEÇÃO DOS DADOS PESSOAIS</vt:lpstr>
      <vt:lpstr>Estrutura LGPD</vt:lpstr>
      <vt:lpstr>Apresentação do PowerPoint</vt:lpstr>
      <vt:lpstr>Apresentação do PowerPoint</vt:lpstr>
      <vt:lpstr>Apresentação do PowerPoint</vt:lpstr>
      <vt:lpstr>Apresentação do PowerPoint</vt:lpstr>
      <vt:lpstr>SANÇÕES ADMINISTRATIVAS</vt:lpstr>
      <vt:lpstr>Apresentação do PowerPoint</vt:lpstr>
      <vt:lpstr>Apresentação do PowerPoint</vt:lpstr>
      <vt:lpstr>Apresentação do PowerPoint</vt:lpstr>
      <vt:lpstr>Apresentação do PowerPoint</vt:lpstr>
      <vt:lpstr>Tratamento dos dados</vt:lpstr>
      <vt:lpstr>10 PASSOS PARA IMPLANTAR A LGPD</vt:lpstr>
      <vt:lpstr>Conformidade LGPD</vt:lpstr>
      <vt:lpstr>Apresentação do PowerPoint</vt:lpstr>
      <vt:lpstr>Apresentação do PowerPoint</vt:lpstr>
      <vt:lpstr>Estrutura ANPD</vt:lpstr>
      <vt:lpstr>Apresentação do PowerPoint</vt:lpstr>
      <vt:lpstr>Apresentação do PowerPoint</vt:lpstr>
      <vt:lpstr>Apresentação do PowerPoint</vt:lpstr>
      <vt:lpstr>REFERÊNCIA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LEI GERAL DE PROTEÇÃO DE DADOS</dc:title>
  <dc:creator>Coordenação de Direito</dc:creator>
  <cp:lastModifiedBy>Alex Coelho</cp:lastModifiedBy>
  <cp:revision>14</cp:revision>
  <dcterms:created xsi:type="dcterms:W3CDTF">2020-12-04T10:45:12Z</dcterms:created>
  <dcterms:modified xsi:type="dcterms:W3CDTF">2024-11-30T18:12:52Z</dcterms:modified>
</cp:coreProperties>
</file>