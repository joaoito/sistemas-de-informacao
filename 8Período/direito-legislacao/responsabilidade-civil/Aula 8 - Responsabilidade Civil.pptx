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6"/>
  </p:notesMasterIdLst>
  <p:sldIdLst>
    <p:sldId id="256" r:id="rId2"/>
    <p:sldId id="366" r:id="rId3"/>
    <p:sldId id="428" r:id="rId4"/>
    <p:sldId id="257" r:id="rId5"/>
    <p:sldId id="422" r:id="rId6"/>
    <p:sldId id="258" r:id="rId7"/>
    <p:sldId id="259" r:id="rId8"/>
    <p:sldId id="377" r:id="rId9"/>
    <p:sldId id="407" r:id="rId10"/>
    <p:sldId id="261" r:id="rId11"/>
    <p:sldId id="262" r:id="rId12"/>
    <p:sldId id="283" r:id="rId13"/>
    <p:sldId id="292" r:id="rId14"/>
    <p:sldId id="266" r:id="rId15"/>
    <p:sldId id="267" r:id="rId16"/>
    <p:sldId id="268" r:id="rId17"/>
    <p:sldId id="409" r:id="rId18"/>
    <p:sldId id="410" r:id="rId19"/>
    <p:sldId id="427" r:id="rId20"/>
    <p:sldId id="411" r:id="rId21"/>
    <p:sldId id="414" r:id="rId22"/>
    <p:sldId id="429" r:id="rId23"/>
    <p:sldId id="415" r:id="rId24"/>
    <p:sldId id="282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86" autoAdjust="0"/>
    <p:restoredTop sz="86667" autoAdjust="0"/>
  </p:normalViewPr>
  <p:slideViewPr>
    <p:cSldViewPr>
      <p:cViewPr varScale="1">
        <p:scale>
          <a:sx n="64" d="100"/>
          <a:sy n="64" d="100"/>
        </p:scale>
        <p:origin x="73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4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36F83-6E13-4D99-A717-DBE3B7FFA1EF}" type="datetimeFigureOut">
              <a:rPr lang="pt-BR" smtClean="0"/>
              <a:pPr/>
              <a:t>09/05/2026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D74A6-B3E9-4C70-A467-007889B82F9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708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223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CARLINI ADVOGADOS ASSOCIADOS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4172555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42219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5DB30A-79AA-41A4-A4F1-CF429B09CEAC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CARLINI ADVOGADOS ASSOCIADOS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56542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EADDA-39CE-4A3D-9003-FDEF22B6AC1E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259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98D0-5D89-47E6-B69E-90E9FAB10BF4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40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214900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86377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BE2286-53DB-4B5A-BDD1-118B0D0B4E3C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/>
              <a:t>CARLINI ADVOGADOS ASSOCIADOS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21842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46516-B28D-4680-ADE6-8E80E4FC7B8F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5220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18201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CARLINI ADVOGADOS ASSOCIADOS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84337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9198E318-E94A-4B74-898C-D5567DC22F55}" type="datetime1">
              <a:rPr lang="pt-BR" smtClean="0"/>
              <a:pPr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CARLINI ADVOGADOS ASSOCIADOS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4888701D-0E37-4120-9C99-FCFD436DF8F9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12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4048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3600" b="1" dirty="0">
                <a:solidFill>
                  <a:srgbClr val="002060"/>
                </a:solidFill>
              </a:rPr>
              <a:t>RESPONSABILIDADE CIVIL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94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eaLnBrk="1" hangingPunct="1"/>
            <a:r>
              <a:rPr lang="pt-BR" sz="3200" b="1" dirty="0">
                <a:solidFill>
                  <a:srgbClr val="002060"/>
                </a:solidFill>
              </a:rPr>
              <a:t>SOCIEDADE CONTEMPORÂNEA COMO SOCIEDADE DE RISCO</a:t>
            </a:r>
          </a:p>
        </p:txBody>
      </p:sp>
      <p:sp>
        <p:nvSpPr>
          <p:cNvPr id="4099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pt-BR" sz="3000" b="1" dirty="0">
                <a:solidFill>
                  <a:srgbClr val="002060"/>
                </a:solidFill>
              </a:rPr>
              <a:t>TECNOLOGIA é a maior característica da</a:t>
            </a:r>
            <a:r>
              <a:rPr lang="pt-BR" sz="3000" dirty="0">
                <a:solidFill>
                  <a:srgbClr val="002060"/>
                </a:solidFill>
              </a:rPr>
              <a:t> sociedade contemporânea ocidental.</a:t>
            </a:r>
          </a:p>
          <a:p>
            <a:pPr eaLnBrk="1" hangingPunct="1"/>
            <a:r>
              <a:rPr lang="pt-BR" sz="3000" dirty="0">
                <a:solidFill>
                  <a:srgbClr val="002060"/>
                </a:solidFill>
              </a:rPr>
              <a:t>A tecnologia está presente em todos os setores da vida social.</a:t>
            </a:r>
          </a:p>
          <a:p>
            <a:pPr eaLnBrk="1" hangingPunct="1"/>
            <a:r>
              <a:rPr lang="pt-BR" sz="3000" dirty="0">
                <a:solidFill>
                  <a:srgbClr val="002060"/>
                </a:solidFill>
              </a:rPr>
              <a:t>É uma exigência cada vez maior em todos os setores da vida social.</a:t>
            </a:r>
          </a:p>
          <a:p>
            <a:pPr eaLnBrk="1" hangingPunct="1"/>
            <a:r>
              <a:rPr lang="pt-BR" sz="3000" b="1" dirty="0">
                <a:solidFill>
                  <a:srgbClr val="002060"/>
                </a:solidFill>
              </a:rPr>
              <a:t>Tecnologia aumenta as possibilidades de risco.</a:t>
            </a:r>
            <a:endParaRPr lang="pt-BR" sz="30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4100" name="Espaço Reservado para Número de Slide 3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>
              <a:solidFill>
                <a:srgbClr val="89898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304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pt-BR" sz="4400" b="1" dirty="0">
                <a:solidFill>
                  <a:srgbClr val="002060"/>
                </a:solidFill>
              </a:rPr>
              <a:t>RESPONSABILIDADE CIVIL</a:t>
            </a:r>
            <a:endParaRPr lang="pt-BR" b="1" dirty="0">
              <a:solidFill>
                <a:srgbClr val="002060"/>
              </a:solidFill>
            </a:endParaRPr>
          </a:p>
        </p:txBody>
      </p:sp>
      <p:sp>
        <p:nvSpPr>
          <p:cNvPr id="12290" name="Espaço Reservado para Conteúdo 1"/>
          <p:cNvSpPr>
            <a:spLocks noGrp="1"/>
          </p:cNvSpPr>
          <p:nvPr>
            <p:ph idx="1"/>
          </p:nvPr>
        </p:nvSpPr>
        <p:spPr>
          <a:xfrm>
            <a:off x="1028700" y="1628800"/>
            <a:ext cx="7200900" cy="3581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altLang="pt-BR" sz="2800" b="1" dirty="0">
                <a:solidFill>
                  <a:srgbClr val="002060"/>
                </a:solidFill>
              </a:rPr>
              <a:t>2. DA RESPONSABILIDADE CIVIL</a:t>
            </a:r>
          </a:p>
          <a:p>
            <a:pPr marL="0" indent="0" algn="just">
              <a:buNone/>
            </a:pPr>
            <a:r>
              <a:rPr lang="pt-BR" altLang="pt-BR" sz="2800" dirty="0">
                <a:solidFill>
                  <a:srgbClr val="002060"/>
                </a:solidFill>
              </a:rPr>
              <a:t> </a:t>
            </a:r>
            <a:r>
              <a:rPr lang="pt-BR" altLang="pt-BR" sz="2800" b="1" u="sng" dirty="0">
                <a:solidFill>
                  <a:srgbClr val="002060"/>
                </a:solidFill>
              </a:rPr>
              <a:t>2.1 - </a:t>
            </a:r>
            <a:r>
              <a:rPr lang="pt-BR" altLang="pt-BR" sz="2800" b="1" u="sng" dirty="0" err="1">
                <a:solidFill>
                  <a:srgbClr val="002060"/>
                </a:solidFill>
              </a:rPr>
              <a:t>Idéias</a:t>
            </a:r>
            <a:r>
              <a:rPr lang="pt-BR" altLang="pt-BR" sz="2800" b="1" u="sng" dirty="0">
                <a:solidFill>
                  <a:srgbClr val="002060"/>
                </a:solidFill>
              </a:rPr>
              <a:t> gerais sobre responsabilidade civil:</a:t>
            </a:r>
            <a:endParaRPr lang="pt-BR" altLang="pt-BR" sz="2800" b="1" dirty="0">
              <a:solidFill>
                <a:srgbClr val="002060"/>
              </a:solidFill>
            </a:endParaRPr>
          </a:p>
          <a:p>
            <a:pPr marL="0" indent="0" algn="just">
              <a:buNone/>
            </a:pPr>
            <a:r>
              <a:rPr lang="pt-BR" altLang="pt-BR" sz="2800" dirty="0">
                <a:solidFill>
                  <a:srgbClr val="002060"/>
                </a:solidFill>
              </a:rPr>
              <a:t> </a:t>
            </a:r>
            <a:r>
              <a:rPr lang="pt-BR" altLang="pt-BR" sz="2800" b="1" dirty="0">
                <a:solidFill>
                  <a:srgbClr val="002060"/>
                </a:solidFill>
              </a:rPr>
              <a:t>Conceito:</a:t>
            </a:r>
            <a:r>
              <a:rPr lang="pt-BR" altLang="pt-BR" sz="2800" dirty="0">
                <a:solidFill>
                  <a:srgbClr val="002060"/>
                </a:solidFill>
              </a:rPr>
              <a:t> “é uma obrigação derivada – um dever jurídico sucessivo – de assumir as consequências jurídicas de um fato, consequências essas que podem variar (reparação dos danos e/ou punição pessoal do agente </a:t>
            </a:r>
            <a:r>
              <a:rPr lang="pt-BR" altLang="pt-BR" sz="2800" dirty="0" err="1">
                <a:solidFill>
                  <a:srgbClr val="002060"/>
                </a:solidFill>
              </a:rPr>
              <a:t>lesionante</a:t>
            </a:r>
            <a:r>
              <a:rPr lang="pt-BR" altLang="pt-BR" sz="2800" dirty="0">
                <a:solidFill>
                  <a:srgbClr val="002060"/>
                </a:solidFill>
              </a:rPr>
              <a:t>) de acordo com os interesses lesados.” (Pablo </a:t>
            </a:r>
            <a:r>
              <a:rPr lang="pt-BR" altLang="pt-BR" sz="2800" dirty="0" err="1">
                <a:solidFill>
                  <a:srgbClr val="002060"/>
                </a:solidFill>
              </a:rPr>
              <a:t>Stolze</a:t>
            </a:r>
            <a:r>
              <a:rPr lang="pt-BR" altLang="pt-BR" sz="2800" dirty="0">
                <a:solidFill>
                  <a:srgbClr val="002060"/>
                </a:solidFill>
              </a:rPr>
              <a:t>). </a:t>
            </a:r>
          </a:p>
          <a:p>
            <a:pPr marL="0" indent="0">
              <a:buNone/>
            </a:pPr>
            <a:endParaRPr lang="pt-BR" altLang="pt-BR" sz="28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C34BBE5-FBCA-204E-9CA8-CB8ADCDBFDE7}" type="slidenum">
              <a:rPr lang="pt-BR" altLang="pt-BR"/>
              <a:pPr eaLnBrk="1" hangingPunct="1"/>
              <a:t>3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2538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4000" b="1" dirty="0">
                <a:solidFill>
                  <a:srgbClr val="002060"/>
                </a:solidFill>
              </a:rPr>
              <a:t>RESPONSABILIDADE CIVIL </a:t>
            </a:r>
          </a:p>
        </p:txBody>
      </p:sp>
      <p:sp>
        <p:nvSpPr>
          <p:cNvPr id="101381" name="Rectangle 3"/>
          <p:cNvSpPr>
            <a:spLocks noGrp="1" noChangeArrowheads="1"/>
          </p:cNvSpPr>
          <p:nvPr>
            <p:ph idx="1"/>
          </p:nvPr>
        </p:nvSpPr>
        <p:spPr>
          <a:xfrm>
            <a:off x="1115617" y="2015733"/>
            <a:ext cx="7776864" cy="3450613"/>
          </a:xfrm>
        </p:spPr>
        <p:txBody>
          <a:bodyPr>
            <a:noAutofit/>
          </a:bodyPr>
          <a:lstStyle/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Na atualidade envolve aspectos mais abrangentes que a ideia de danos.</a:t>
            </a: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O foco se modifica </a:t>
            </a:r>
            <a:r>
              <a:rPr lang="pt-BR" sz="2800" b="1" dirty="0">
                <a:solidFill>
                  <a:srgbClr val="002060"/>
                </a:solidFill>
              </a:rPr>
              <a:t>do agente para a vítima.</a:t>
            </a:r>
            <a:endParaRPr lang="pt-BR" sz="28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Envolve aspectos pertinentes às práticas, à intencionalidade, a ética e a existência de boa-fé nas relações.</a:t>
            </a: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É por isso que se trata de uma área do direito que </a:t>
            </a:r>
            <a:r>
              <a:rPr lang="pt-BR" sz="2800" b="1" dirty="0">
                <a:solidFill>
                  <a:srgbClr val="002060"/>
                </a:solidFill>
              </a:rPr>
              <a:t>se expande a cada dia</a:t>
            </a:r>
            <a:r>
              <a:rPr lang="pt-BR" sz="2800" dirty="0">
                <a:solidFill>
                  <a:srgbClr val="002060"/>
                </a:solidFill>
              </a:rPr>
              <a:t>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101378" name="Espaço Reservado para Rodapé 4"/>
          <p:cNvSpPr txBox="1">
            <a:spLocks noGrp="1"/>
          </p:cNvSpPr>
          <p:nvPr/>
        </p:nvSpPr>
        <p:spPr bwMode="auto">
          <a:xfrm>
            <a:off x="3203848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/>
            <a:endParaRPr lang="pt-BR" sz="1200" dirty="0"/>
          </a:p>
        </p:txBody>
      </p:sp>
      <p:sp>
        <p:nvSpPr>
          <p:cNvPr id="101379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662049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b="1" dirty="0">
                <a:solidFill>
                  <a:srgbClr val="002060"/>
                </a:solidFill>
              </a:rPr>
              <a:t>DIREITO BRASILEIRO CONTEMPORÂNEO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028700" y="1428750"/>
            <a:ext cx="7200900" cy="3581400"/>
          </a:xfrm>
        </p:spPr>
        <p:txBody>
          <a:bodyPr>
            <a:no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Fundamentado em princípios constitucionais.</a:t>
            </a:r>
          </a:p>
          <a:p>
            <a:r>
              <a:rPr lang="pt-BR" sz="2800" dirty="0">
                <a:solidFill>
                  <a:srgbClr val="002060"/>
                </a:solidFill>
              </a:rPr>
              <a:t>Princípio da </a:t>
            </a:r>
            <a:r>
              <a:rPr lang="pt-BR" sz="2800" b="1" dirty="0">
                <a:solidFill>
                  <a:srgbClr val="002060"/>
                </a:solidFill>
              </a:rPr>
              <a:t>dignidade da pessoa humana </a:t>
            </a:r>
            <a:r>
              <a:rPr lang="pt-BR" sz="2800" dirty="0">
                <a:solidFill>
                  <a:srgbClr val="002060"/>
                </a:solidFill>
              </a:rPr>
              <a:t>é o principal.</a:t>
            </a:r>
          </a:p>
          <a:p>
            <a:r>
              <a:rPr lang="pt-BR" sz="2800" dirty="0">
                <a:solidFill>
                  <a:srgbClr val="002060"/>
                </a:solidFill>
              </a:rPr>
              <a:t>Aproximação do Direito Público e do Direito Privado.</a:t>
            </a:r>
          </a:p>
          <a:p>
            <a:r>
              <a:rPr lang="pt-BR" sz="2800" dirty="0">
                <a:solidFill>
                  <a:srgbClr val="002060"/>
                </a:solidFill>
              </a:rPr>
              <a:t>Atuação ampliada dos juízes na interpretação e aplicação da lei.</a:t>
            </a:r>
          </a:p>
          <a:p>
            <a:r>
              <a:rPr lang="pt-BR" sz="2800" dirty="0">
                <a:solidFill>
                  <a:srgbClr val="002060"/>
                </a:solidFill>
              </a:rPr>
              <a:t>Geração de juízes formada após a CF/88 e do Código Civil de 2002.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5</a:t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3200" b="1" dirty="0">
                <a:solidFill>
                  <a:srgbClr val="002060"/>
                </a:solidFill>
              </a:rPr>
              <a:t>RESPONSABILIDADE CIVIL OBJETIVA E SUBJETIVA</a:t>
            </a:r>
            <a:r>
              <a:rPr lang="pt-BR" sz="28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pt-BR" sz="3200" b="1" dirty="0">
                <a:solidFill>
                  <a:srgbClr val="002060"/>
                </a:solidFill>
              </a:rPr>
              <a:t>RESP. CIVIL </a:t>
            </a:r>
            <a:r>
              <a:rPr lang="pt-BR" sz="3200" b="1" u="sng" dirty="0">
                <a:solidFill>
                  <a:srgbClr val="002060"/>
                </a:solidFill>
              </a:rPr>
              <a:t>OBJETIVA</a:t>
            </a:r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dirty="0">
                <a:solidFill>
                  <a:srgbClr val="002060"/>
                </a:solidFill>
              </a:rPr>
              <a:t>– é aquela que independe da prova de culpa; há verdadeira presunção de culpabilidade do agente.</a:t>
            </a:r>
          </a:p>
          <a:p>
            <a:pPr eaLnBrk="1" hangingPunct="1">
              <a:buFont typeface="Wingdings" pitchFamily="2" charset="2"/>
              <a:buNone/>
            </a:pPr>
            <a:endParaRPr lang="pt-BR" sz="32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3200" b="1" dirty="0">
                <a:solidFill>
                  <a:srgbClr val="002060"/>
                </a:solidFill>
              </a:rPr>
              <a:t>RESP. CIVIL </a:t>
            </a:r>
            <a:r>
              <a:rPr lang="pt-BR" sz="3200" b="1" u="sng" dirty="0">
                <a:solidFill>
                  <a:srgbClr val="002060"/>
                </a:solidFill>
              </a:rPr>
              <a:t>SUBJETIVA </a:t>
            </a:r>
            <a:r>
              <a:rPr lang="pt-BR" sz="3200" dirty="0">
                <a:solidFill>
                  <a:srgbClr val="002060"/>
                </a:solidFill>
              </a:rPr>
              <a:t>– é fundamental a prova de culpa ou dolo do agente que praticou o ato.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24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pt-BR" b="1" dirty="0">
                <a:solidFill>
                  <a:srgbClr val="002060"/>
                </a:solidFill>
                <a:effectLst/>
              </a:rPr>
              <a:t>RESP. CIVIL OBJETIVA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>
          <a:xfrm>
            <a:off x="993609" y="1556792"/>
            <a:ext cx="7200900" cy="3581400"/>
          </a:xfrm>
        </p:spPr>
        <p:txBody>
          <a:bodyPr>
            <a:noAutofit/>
          </a:bodyPr>
          <a:lstStyle/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O elemento </a:t>
            </a:r>
            <a:r>
              <a:rPr lang="pt-BR" sz="2800" b="1" dirty="0">
                <a:solidFill>
                  <a:srgbClr val="002060"/>
                </a:solidFill>
              </a:rPr>
              <a:t>CULPA não é essencial.</a:t>
            </a:r>
            <a:endParaRPr lang="pt-BR" sz="28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Fundamental é a ideia de </a:t>
            </a:r>
            <a:r>
              <a:rPr lang="pt-BR" sz="2800" b="1" dirty="0">
                <a:solidFill>
                  <a:srgbClr val="002060"/>
                </a:solidFill>
              </a:rPr>
              <a:t>RISCO</a:t>
            </a:r>
            <a:r>
              <a:rPr lang="pt-BR" sz="2800" dirty="0">
                <a:solidFill>
                  <a:srgbClr val="002060"/>
                </a:solidFill>
              </a:rPr>
              <a:t>, porque ela se funda na </a:t>
            </a:r>
            <a:r>
              <a:rPr lang="pt-BR" sz="2800" b="1" dirty="0">
                <a:solidFill>
                  <a:srgbClr val="002060"/>
                </a:solidFill>
              </a:rPr>
              <a:t>TEORIA DO RISCO.</a:t>
            </a:r>
            <a:endParaRPr lang="pt-BR" sz="28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O sujeito deve ser responsável pelos riscos que cria mesmo que adote </a:t>
            </a:r>
            <a:r>
              <a:rPr lang="pt-BR" sz="2800" b="1" u="sng" dirty="0">
                <a:solidFill>
                  <a:srgbClr val="002060"/>
                </a:solidFill>
              </a:rPr>
              <a:t>todos os meios possíveis </a:t>
            </a:r>
            <a:r>
              <a:rPr lang="pt-BR" sz="2800" dirty="0">
                <a:solidFill>
                  <a:srgbClr val="002060"/>
                </a:solidFill>
              </a:rPr>
              <a:t>para evitar danos a outras pessoas.</a:t>
            </a: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A atividade empresarial  quase sempre envolve </a:t>
            </a:r>
            <a:r>
              <a:rPr lang="pt-BR" sz="2800" b="1" dirty="0">
                <a:solidFill>
                  <a:srgbClr val="002060"/>
                </a:solidFill>
              </a:rPr>
              <a:t>algum tipo de risco</a:t>
            </a:r>
            <a:r>
              <a:rPr lang="pt-BR" sz="2800" dirty="0">
                <a:solidFill>
                  <a:srgbClr val="002060"/>
                </a:solidFill>
              </a:rPr>
              <a:t>!</a:t>
            </a:r>
          </a:p>
          <a:p>
            <a:r>
              <a:rPr lang="pt-BR" sz="2800" dirty="0">
                <a:solidFill>
                  <a:srgbClr val="002060"/>
                </a:solidFill>
              </a:rPr>
              <a:t>Em tese, essa modalidade cria maiores benefícios para a sociedade como um todo.</a:t>
            </a:r>
          </a:p>
          <a:p>
            <a:pPr eaLnBrk="1" hangingPunct="1"/>
            <a:endParaRPr lang="pt-BR" sz="3100" dirty="0">
              <a:solidFill>
                <a:srgbClr val="002060"/>
              </a:solidFill>
            </a:endParaRPr>
          </a:p>
          <a:p>
            <a:pPr marL="0" indent="0" eaLnBrk="1" hangingPunct="1">
              <a:buNone/>
            </a:pPr>
            <a:endParaRPr lang="pt-BR" sz="3100" dirty="0">
              <a:solidFill>
                <a:srgbClr val="00206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8130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08611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8700" y="332656"/>
            <a:ext cx="7200900" cy="1485900"/>
          </a:xfrm>
        </p:spPr>
        <p:txBody>
          <a:bodyPr>
            <a:noAutofit/>
          </a:bodyPr>
          <a:lstStyle/>
          <a:p>
            <a:r>
              <a:rPr lang="pt-BR" sz="2800" b="1" dirty="0">
                <a:solidFill>
                  <a:srgbClr val="002060"/>
                </a:solidFill>
              </a:rPr>
              <a:t>RESPONSABILIDADE OBJETIVA NO CÓDIGO CIVIL BRASILEIRO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074230" y="1347664"/>
            <a:ext cx="7674233" cy="358140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pt-BR" sz="2400" b="1" dirty="0">
                <a:solidFill>
                  <a:srgbClr val="002060"/>
                </a:solidFill>
              </a:rPr>
              <a:t>Parágrafo único do Art. 927 </a:t>
            </a:r>
            <a:r>
              <a:rPr lang="pt-BR" sz="2400" dirty="0">
                <a:solidFill>
                  <a:srgbClr val="002060"/>
                </a:solidFill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pt-BR" sz="2400" dirty="0">
                <a:solidFill>
                  <a:srgbClr val="002060"/>
                </a:solidFill>
              </a:rPr>
              <a:t> Haverá obrigação de reparar o dano, </a:t>
            </a:r>
            <a:r>
              <a:rPr lang="pt-BR" sz="2400" u="sng" dirty="0">
                <a:solidFill>
                  <a:srgbClr val="002060"/>
                </a:solidFill>
              </a:rPr>
              <a:t>independentemente de culpa</a:t>
            </a:r>
            <a:r>
              <a:rPr lang="pt-BR" sz="2400" dirty="0">
                <a:solidFill>
                  <a:srgbClr val="002060"/>
                </a:solidFill>
              </a:rPr>
              <a:t>, </a:t>
            </a:r>
            <a:r>
              <a:rPr lang="pt-BR" sz="2400" b="1" dirty="0">
                <a:solidFill>
                  <a:srgbClr val="002060"/>
                </a:solidFill>
              </a:rPr>
              <a:t>nos casos </a:t>
            </a:r>
            <a:r>
              <a:rPr lang="pt-BR" sz="2400" b="1" u="sng" dirty="0">
                <a:solidFill>
                  <a:srgbClr val="002060"/>
                </a:solidFill>
              </a:rPr>
              <a:t>especificados em lei</a:t>
            </a:r>
            <a:r>
              <a:rPr lang="pt-BR" sz="2400" b="1" dirty="0">
                <a:solidFill>
                  <a:srgbClr val="002060"/>
                </a:solidFill>
              </a:rPr>
              <a:t>, ou </a:t>
            </a:r>
            <a:r>
              <a:rPr lang="pt-BR" sz="2400" dirty="0">
                <a:solidFill>
                  <a:srgbClr val="002060"/>
                </a:solidFill>
              </a:rPr>
              <a:t>quando, a </a:t>
            </a:r>
            <a:r>
              <a:rPr lang="pt-BR" sz="2400" b="1" dirty="0">
                <a:solidFill>
                  <a:srgbClr val="002060"/>
                </a:solidFill>
              </a:rPr>
              <a:t>atividade normalmente desenvolvida pelo autor do dano implicar, por sua natureza, risco para os direitos de outrem</a:t>
            </a:r>
            <a:r>
              <a:rPr lang="pt-BR" sz="2400" dirty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pt-BR" sz="2400" dirty="0">
                <a:solidFill>
                  <a:srgbClr val="002060"/>
                </a:solidFill>
              </a:rPr>
              <a:t>Art. 931:</a:t>
            </a:r>
          </a:p>
          <a:p>
            <a:pPr>
              <a:lnSpc>
                <a:spcPct val="110000"/>
              </a:lnSpc>
            </a:pPr>
            <a:r>
              <a:rPr lang="pt-BR" sz="2400" dirty="0">
                <a:solidFill>
                  <a:srgbClr val="002060"/>
                </a:solidFill>
              </a:rPr>
              <a:t>Ressalvados outros casos previstos em lei especial, </a:t>
            </a:r>
            <a:r>
              <a:rPr lang="pt-BR" sz="2400" b="1" dirty="0">
                <a:solidFill>
                  <a:srgbClr val="002060"/>
                </a:solidFill>
              </a:rPr>
              <a:t>os </a:t>
            </a:r>
            <a:r>
              <a:rPr lang="pt-BR" sz="2400" b="1" u="sng" dirty="0">
                <a:solidFill>
                  <a:srgbClr val="002060"/>
                </a:solidFill>
              </a:rPr>
              <a:t>empresários individuais e as empresas</a:t>
            </a:r>
            <a:r>
              <a:rPr lang="pt-BR" sz="2400" b="1" dirty="0">
                <a:solidFill>
                  <a:srgbClr val="002060"/>
                </a:solidFill>
              </a:rPr>
              <a:t> </a:t>
            </a:r>
            <a:r>
              <a:rPr lang="pt-BR" sz="2400" dirty="0">
                <a:solidFill>
                  <a:srgbClr val="002060"/>
                </a:solidFill>
              </a:rPr>
              <a:t>respondem independentemente de culpa </a:t>
            </a:r>
            <a:r>
              <a:rPr lang="pt-BR" sz="2400" b="1" dirty="0">
                <a:solidFill>
                  <a:srgbClr val="002060"/>
                </a:solidFill>
              </a:rPr>
              <a:t>pelos danos causados pelos produtos postos em circulação.</a:t>
            </a:r>
          </a:p>
          <a:p>
            <a:pPr marL="0" indent="0">
              <a:lnSpc>
                <a:spcPct val="110000"/>
              </a:lnSpc>
              <a:buNone/>
            </a:pPr>
            <a:endParaRPr lang="pt-BR" sz="1600" dirty="0">
              <a:solidFill>
                <a:srgbClr val="002060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46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3200" b="1" dirty="0">
                <a:solidFill>
                  <a:srgbClr val="002060"/>
                </a:solidFill>
              </a:rPr>
              <a:t>A RESPONSABILIDADE CIVIL NO </a:t>
            </a:r>
            <a:r>
              <a:rPr lang="pt-BR" sz="3200" b="1" u="sng" dirty="0">
                <a:solidFill>
                  <a:srgbClr val="002060"/>
                </a:solidFill>
              </a:rPr>
              <a:t>CÓDIGO DE DEFESA DO CONSUMIDOR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r" eaLnBrk="1" hangingPunct="1"/>
            <a:endParaRPr lang="pt-BR" sz="2800" dirty="0">
              <a:solidFill>
                <a:srgbClr val="002060"/>
              </a:solidFill>
            </a:endParaRPr>
          </a:p>
          <a:p>
            <a:pPr algn="r" eaLnBrk="1" hangingPunct="1"/>
            <a:r>
              <a:rPr lang="pt-BR" sz="2800" dirty="0">
                <a:solidFill>
                  <a:srgbClr val="002060"/>
                </a:solidFill>
              </a:rPr>
              <a:t>Art. 14 - A responsabilidade civil dos </a:t>
            </a:r>
            <a:r>
              <a:rPr lang="pt-BR" sz="2800" b="1" dirty="0">
                <a:solidFill>
                  <a:srgbClr val="002060"/>
                </a:solidFill>
              </a:rPr>
              <a:t>fornecedores de produtos ou serviços</a:t>
            </a:r>
            <a:r>
              <a:rPr lang="pt-BR" sz="2800" dirty="0">
                <a:solidFill>
                  <a:srgbClr val="002060"/>
                </a:solidFill>
              </a:rPr>
              <a:t> é </a:t>
            </a:r>
            <a:r>
              <a:rPr lang="pt-BR" sz="2800" b="1" u="sng" dirty="0">
                <a:solidFill>
                  <a:srgbClr val="002060"/>
                </a:solidFill>
              </a:rPr>
              <a:t>OBJETIVA</a:t>
            </a:r>
            <a:r>
              <a:rPr lang="pt-BR" sz="2800" dirty="0">
                <a:solidFill>
                  <a:srgbClr val="002060"/>
                </a:solidFill>
              </a:rPr>
              <a:t>, ou seja, independente de culpa</a:t>
            </a:r>
          </a:p>
          <a:p>
            <a:pPr algn="r" eaLnBrk="1" hangingPunct="1">
              <a:buFont typeface="Wingdings" pitchFamily="2" charset="2"/>
              <a:buNone/>
            </a:pPr>
            <a:endParaRPr lang="pt-BR" sz="2800" dirty="0">
              <a:solidFill>
                <a:srgbClr val="002060"/>
              </a:solidFill>
            </a:endParaRPr>
          </a:p>
          <a:p>
            <a:pPr algn="r" eaLnBrk="1" hangingPunct="1"/>
            <a:r>
              <a:rPr lang="pt-BR" sz="2800" dirty="0">
                <a:solidFill>
                  <a:srgbClr val="002060"/>
                </a:solidFill>
              </a:rPr>
              <a:t>A responsabilidade OBJETIVA não elimina a necessidade de </a:t>
            </a:r>
            <a:r>
              <a:rPr lang="pt-BR" sz="2800" b="1" u="sng" dirty="0">
                <a:solidFill>
                  <a:srgbClr val="002060"/>
                </a:solidFill>
              </a:rPr>
              <a:t>prova do dano</a:t>
            </a:r>
            <a:r>
              <a:rPr lang="pt-BR" sz="2800" dirty="0">
                <a:solidFill>
                  <a:srgbClr val="002060"/>
                </a:solidFill>
              </a:rPr>
              <a:t>, nem a possibilidade de defesa do fornecedor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53250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06394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pt-BR" sz="3200" b="1" dirty="0">
                <a:solidFill>
                  <a:srgbClr val="002060"/>
                </a:solidFill>
              </a:rPr>
              <a:t>RC SUBJETIVA NO CÓDIGO CIVIL BRASILEIRO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pt-BR" sz="3600" dirty="0">
                <a:solidFill>
                  <a:srgbClr val="002060"/>
                </a:solidFill>
              </a:rPr>
              <a:t>Regra do art. 927 é a </a:t>
            </a:r>
            <a:r>
              <a:rPr lang="pt-BR" sz="3600" b="1" dirty="0">
                <a:solidFill>
                  <a:srgbClr val="002060"/>
                </a:solidFill>
              </a:rPr>
              <a:t>RC SUBJETIVA</a:t>
            </a:r>
          </a:p>
          <a:p>
            <a:pPr eaLnBrk="1" hangingPunct="1">
              <a:buFont typeface="Wingdings" pitchFamily="2" charset="2"/>
              <a:buNone/>
            </a:pPr>
            <a:endParaRPr lang="pt-BR" sz="36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3600" dirty="0">
                <a:solidFill>
                  <a:srgbClr val="002060"/>
                </a:solidFill>
              </a:rPr>
              <a:t>Aquele que, </a:t>
            </a:r>
            <a:r>
              <a:rPr lang="pt-BR" sz="3600" b="1" u="sng" dirty="0">
                <a:solidFill>
                  <a:srgbClr val="002060"/>
                </a:solidFill>
              </a:rPr>
              <a:t>por ato ilícito</a:t>
            </a:r>
            <a:r>
              <a:rPr lang="pt-BR" sz="3600" dirty="0">
                <a:solidFill>
                  <a:srgbClr val="002060"/>
                </a:solidFill>
              </a:rPr>
              <a:t>, causar dano a outrem, fica obrigado a repará-lo.</a:t>
            </a:r>
          </a:p>
          <a:p>
            <a:pPr eaLnBrk="1" hangingPunct="1"/>
            <a:endParaRPr lang="pt-BR" sz="36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3600" dirty="0">
                <a:solidFill>
                  <a:srgbClr val="002060"/>
                </a:solidFill>
              </a:rPr>
              <a:t>É preciso que a vítima prove o </a:t>
            </a:r>
            <a:r>
              <a:rPr lang="pt-BR" sz="3600" b="1" dirty="0">
                <a:solidFill>
                  <a:srgbClr val="002060"/>
                </a:solidFill>
              </a:rPr>
              <a:t>fato, o dano e o nexo causal.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51202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467103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3600" b="1" dirty="0">
                <a:solidFill>
                  <a:srgbClr val="002060"/>
                </a:solidFill>
              </a:rPr>
              <a:t>ELEMENTOS DA RC SUBJETIVA</a:t>
            </a:r>
            <a:r>
              <a:rPr lang="pt-BR" sz="3200" b="1" dirty="0">
                <a:solidFill>
                  <a:srgbClr val="002060"/>
                </a:solidFill>
              </a:rPr>
              <a:t>: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>
          <a:xfrm>
            <a:off x="1061673" y="1772816"/>
            <a:ext cx="7200900" cy="3581400"/>
          </a:xfrm>
        </p:spPr>
        <p:txBody>
          <a:bodyPr>
            <a:noAutofit/>
          </a:bodyPr>
          <a:lstStyle/>
          <a:p>
            <a:pPr eaLnBrk="1" hangingPunct="1"/>
            <a:r>
              <a:rPr lang="pt-BR" sz="2800" b="1" dirty="0">
                <a:solidFill>
                  <a:srgbClr val="002060"/>
                </a:solidFill>
              </a:rPr>
              <a:t>Três elementos fundamentais:</a:t>
            </a:r>
          </a:p>
          <a:p>
            <a:pPr eaLnBrk="1" hangingPunct="1"/>
            <a:endParaRPr lang="pt-BR" sz="28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2800" b="1" dirty="0">
                <a:solidFill>
                  <a:srgbClr val="002060"/>
                </a:solidFill>
              </a:rPr>
              <a:t>ATO ILÍCITO </a:t>
            </a:r>
            <a:r>
              <a:rPr lang="pt-BR" sz="2800" dirty="0">
                <a:solidFill>
                  <a:srgbClr val="002060"/>
                </a:solidFill>
              </a:rPr>
              <a:t>– culposo ou doloso</a:t>
            </a:r>
          </a:p>
          <a:p>
            <a:pPr eaLnBrk="1" hangingPunct="1"/>
            <a:endParaRPr lang="pt-BR" sz="28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2800" b="1" dirty="0">
                <a:solidFill>
                  <a:srgbClr val="002060"/>
                </a:solidFill>
              </a:rPr>
              <a:t>DANO </a:t>
            </a:r>
            <a:r>
              <a:rPr lang="pt-BR" sz="2800" dirty="0">
                <a:solidFill>
                  <a:srgbClr val="002060"/>
                </a:solidFill>
              </a:rPr>
              <a:t>– material, moral, estético, social</a:t>
            </a:r>
          </a:p>
          <a:p>
            <a:pPr eaLnBrk="1" hangingPunct="1"/>
            <a:endParaRPr lang="pt-BR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pt-BR" sz="2800" b="1" dirty="0">
                <a:solidFill>
                  <a:srgbClr val="002060"/>
                </a:solidFill>
              </a:rPr>
              <a:t>NEXO DE CAUSALIDADE – elo de ligação entre o fato e o dano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52226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45627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Espaço Reservado para Conteúdo 1">
            <a:extLst>
              <a:ext uri="{FF2B5EF4-FFF2-40B4-BE49-F238E27FC236}">
                <a16:creationId xmlns:a16="http://schemas.microsoft.com/office/drawing/2014/main" id="{E35D55BD-95D9-B0C2-1D28-D6DD6114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452" y="1646238"/>
            <a:ext cx="8556625" cy="4525962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pt-BR" altLang="pt-BR" sz="3200" b="1" dirty="0">
                <a:solidFill>
                  <a:srgbClr val="002060"/>
                </a:solidFill>
              </a:rPr>
              <a:t>Ato ilícito: </a:t>
            </a:r>
          </a:p>
          <a:p>
            <a:pPr algn="just" eaLnBrk="1" hangingPunct="1">
              <a:buFont typeface="Wingdings 3" pitchFamily="2" charset="2"/>
              <a:buNone/>
            </a:pPr>
            <a:r>
              <a:rPr lang="pt-BR" altLang="pt-BR" sz="2800" dirty="0">
                <a:solidFill>
                  <a:srgbClr val="002060"/>
                </a:solidFill>
              </a:rPr>
              <a:t> </a:t>
            </a:r>
            <a:r>
              <a:rPr lang="pt-BR" altLang="pt-BR" sz="2800" b="1" dirty="0">
                <a:solidFill>
                  <a:srgbClr val="002060"/>
                </a:solidFill>
              </a:rPr>
              <a:t>“Art. 186. Aquele que, por ação ou omissão voluntária, negligência ou imprudência, violar direito e causar dano a outrem, ainda que exclusivamente moral, comete ato ilícito.”</a:t>
            </a:r>
          </a:p>
          <a:p>
            <a:pPr algn="just" eaLnBrk="1" hangingPunct="1"/>
            <a:r>
              <a:rPr lang="pt-BR" altLang="pt-BR" sz="2800" dirty="0">
                <a:solidFill>
                  <a:srgbClr val="002060"/>
                </a:solidFill>
              </a:rPr>
              <a:t>Elementos da culpa: </a:t>
            </a:r>
          </a:p>
          <a:p>
            <a:pPr lvl="1" algn="just"/>
            <a:r>
              <a:rPr lang="pt-BR" altLang="pt-BR" sz="2800" dirty="0">
                <a:solidFill>
                  <a:srgbClr val="002060"/>
                </a:solidFill>
              </a:rPr>
              <a:t>a) voluntariedade do comportamento do agente; </a:t>
            </a:r>
          </a:p>
          <a:p>
            <a:pPr lvl="1" algn="just"/>
            <a:r>
              <a:rPr lang="pt-BR" altLang="pt-BR" sz="2800" dirty="0">
                <a:solidFill>
                  <a:srgbClr val="002060"/>
                </a:solidFill>
              </a:rPr>
              <a:t>b) previsibilidade do prejuízo causado, e; </a:t>
            </a:r>
          </a:p>
          <a:p>
            <a:pPr lvl="1" algn="just"/>
            <a:r>
              <a:rPr lang="pt-BR" altLang="pt-BR" sz="2800" dirty="0">
                <a:solidFill>
                  <a:srgbClr val="002060"/>
                </a:solidFill>
              </a:rPr>
              <a:t>c) violação de um dever de cuidado.  </a:t>
            </a:r>
          </a:p>
          <a:p>
            <a:pPr eaLnBrk="1" hangingPunct="1"/>
            <a:endParaRPr lang="pt-BR" altLang="pt-BR" sz="2800" dirty="0">
              <a:solidFill>
                <a:srgbClr val="002060"/>
              </a:solidFill>
            </a:endParaRPr>
          </a:p>
          <a:p>
            <a:pPr eaLnBrk="1" hangingPunct="1"/>
            <a:endParaRPr lang="pt-BR" altLang="pt-BR" sz="2800" dirty="0">
              <a:solidFill>
                <a:srgbClr val="00206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AAED0C5-55D7-D41E-1843-56B922819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67925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sz="4400" dirty="0">
                <a:solidFill>
                  <a:srgbClr val="002060"/>
                </a:solidFill>
              </a:rPr>
              <a:t>RESPONSABILIDADE CIVIL</a:t>
            </a: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7411" name="Espaço Reservado para Número de Slide 3">
            <a:extLst>
              <a:ext uri="{FF2B5EF4-FFF2-40B4-BE49-F238E27FC236}">
                <a16:creationId xmlns:a16="http://schemas.microsoft.com/office/drawing/2014/main" id="{0B8E6BD6-86D3-21A7-44AF-3395698B4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fld id="{7C2C1D6E-20FB-924A-B525-132EBF49ECE8}" type="slidenum">
              <a:rPr lang="pt-BR" altLang="pt-BR" smtClean="0"/>
              <a:pPr/>
              <a:t>12</a:t>
            </a:fld>
            <a:endParaRPr lang="pt-BR" alt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Espaço Reservado para Conteúdo 1">
            <a:extLst>
              <a:ext uri="{FF2B5EF4-FFF2-40B4-BE49-F238E27FC236}">
                <a16:creationId xmlns:a16="http://schemas.microsoft.com/office/drawing/2014/main" id="{C842ABCE-37D2-C44A-BEFF-8779832F6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655339"/>
            <a:ext cx="7647756" cy="4815086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pt-BR" altLang="pt-BR" sz="2800" u="sng" dirty="0">
                <a:solidFill>
                  <a:srgbClr val="002060"/>
                </a:solidFill>
              </a:rPr>
              <a:t>Nexo de Causalidade: </a:t>
            </a:r>
            <a:endParaRPr lang="pt-BR" altLang="pt-BR" sz="2800" dirty="0">
              <a:solidFill>
                <a:srgbClr val="002060"/>
              </a:solidFill>
            </a:endParaRPr>
          </a:p>
          <a:p>
            <a:pPr algn="just" eaLnBrk="1" hangingPunct="1"/>
            <a:r>
              <a:rPr lang="pt-BR" altLang="pt-BR" sz="2800" dirty="0">
                <a:solidFill>
                  <a:srgbClr val="002060"/>
                </a:solidFill>
              </a:rPr>
              <a:t> Conceito de causa </a:t>
            </a:r>
          </a:p>
          <a:p>
            <a:pPr algn="just" eaLnBrk="1" hangingPunct="1">
              <a:buFont typeface="Wingdings 3" pitchFamily="2" charset="2"/>
              <a:buNone/>
            </a:pPr>
            <a:r>
              <a:rPr lang="pt-BR" altLang="pt-BR" sz="2800" dirty="0">
                <a:solidFill>
                  <a:srgbClr val="002060"/>
                </a:solidFill>
              </a:rPr>
              <a:t>  </a:t>
            </a:r>
            <a:r>
              <a:rPr lang="pt-BR" altLang="pt-BR" sz="2800" b="1" dirty="0">
                <a:solidFill>
                  <a:srgbClr val="002060"/>
                </a:solidFill>
              </a:rPr>
              <a:t>“Art. 403. Ainda que a inexecução resulte de dolo do devedor, as perdas e danos só incluem os prejuízos efetivos e os lucros cessantes por efeito dela direto e imediato, sem prejuízo do disposto na lei processual.”</a:t>
            </a:r>
          </a:p>
          <a:p>
            <a:pPr eaLnBrk="1" hangingPunct="1"/>
            <a:endParaRPr lang="pt-BR" altLang="pt-BR" sz="2800" dirty="0">
              <a:solidFill>
                <a:srgbClr val="00206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734CF67-3F68-7A46-B882-BAA4D4C25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sz="4400" dirty="0">
                <a:solidFill>
                  <a:srgbClr val="002060"/>
                </a:solidFill>
              </a:rPr>
              <a:t>RESPONSABILIDADE CIVIL</a:t>
            </a:r>
            <a:br>
              <a:rPr lang="pt-BR" sz="4400" dirty="0">
                <a:solidFill>
                  <a:srgbClr val="002060"/>
                </a:solidFill>
              </a:rPr>
            </a:b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27651" name="Espaço Reservado para Número de Slide 3">
            <a:extLst>
              <a:ext uri="{FF2B5EF4-FFF2-40B4-BE49-F238E27FC236}">
                <a16:creationId xmlns:a16="http://schemas.microsoft.com/office/drawing/2014/main" id="{0EED7CDF-B147-724E-9992-F8F49257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fld id="{6ED207C8-B91A-1249-A822-D5903DC393C6}" type="slidenum">
              <a:rPr lang="pt-BR" altLang="pt-BR">
                <a:solidFill>
                  <a:srgbClr val="002060"/>
                </a:solidFill>
              </a:rPr>
              <a:pPr/>
              <a:t>13</a:t>
            </a:fld>
            <a:endParaRPr lang="pt-BR" altLang="pt-BR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650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45291"/>
            <a:ext cx="8534400" cy="758952"/>
          </a:xfrm>
        </p:spPr>
        <p:txBody>
          <a:bodyPr>
            <a:noAutofit/>
          </a:bodyPr>
          <a:lstStyle/>
          <a:p>
            <a:pPr algn="ctr" eaLnBrk="1" hangingPunct="1"/>
            <a:r>
              <a:rPr lang="pt-BR" sz="3600" b="1" dirty="0">
                <a:solidFill>
                  <a:srgbClr val="002060"/>
                </a:solidFill>
              </a:rPr>
              <a:t>DANO - ELEMENTO ESSENCIAL DA RC</a:t>
            </a:r>
          </a:p>
        </p:txBody>
      </p:sp>
      <p:sp>
        <p:nvSpPr>
          <p:cNvPr id="57350" name="Rectangle 3"/>
          <p:cNvSpPr>
            <a:spLocks noGrp="1" noChangeArrowheads="1"/>
          </p:cNvSpPr>
          <p:nvPr>
            <p:ph idx="1"/>
          </p:nvPr>
        </p:nvSpPr>
        <p:spPr>
          <a:xfrm>
            <a:off x="1763688" y="1340768"/>
            <a:ext cx="5937755" cy="3101983"/>
          </a:xfrm>
        </p:spPr>
        <p:txBody>
          <a:bodyPr>
            <a:noAutofit/>
          </a:bodyPr>
          <a:lstStyle/>
          <a:p>
            <a:pPr eaLnBrk="1" hangingPunct="1"/>
            <a:r>
              <a:rPr lang="pt-BR" sz="2900" b="1" dirty="0">
                <a:solidFill>
                  <a:srgbClr val="002060"/>
                </a:solidFill>
              </a:rPr>
              <a:t>DANO </a:t>
            </a:r>
            <a:r>
              <a:rPr lang="pt-BR" sz="2900" dirty="0">
                <a:solidFill>
                  <a:srgbClr val="002060"/>
                </a:solidFill>
              </a:rPr>
              <a:t>é o elemento sem o qual não há dever de indenizar e, portanto, não há responsabilidade civil.</a:t>
            </a:r>
          </a:p>
          <a:p>
            <a:pPr eaLnBrk="1" hangingPunct="1"/>
            <a:r>
              <a:rPr lang="pt-BR" sz="2900" dirty="0">
                <a:solidFill>
                  <a:srgbClr val="002060"/>
                </a:solidFill>
              </a:rPr>
              <a:t>O dano é sempre suscetível de avaliação pecuniária.</a:t>
            </a:r>
          </a:p>
          <a:p>
            <a:pPr eaLnBrk="1" hangingPunct="1"/>
            <a:r>
              <a:rPr lang="pt-BR" sz="2900" dirty="0">
                <a:solidFill>
                  <a:srgbClr val="002060"/>
                </a:solidFill>
              </a:rPr>
              <a:t>Pode ser reparado </a:t>
            </a:r>
            <a:r>
              <a:rPr lang="pt-BR" sz="2900" b="1" dirty="0">
                <a:solidFill>
                  <a:srgbClr val="002060"/>
                </a:solidFill>
              </a:rPr>
              <a:t>DIRETA ou INDIRETAMENTE.</a:t>
            </a:r>
          </a:p>
          <a:p>
            <a:pPr eaLnBrk="1" hangingPunct="1"/>
            <a:r>
              <a:rPr lang="pt-BR" sz="2900" dirty="0">
                <a:solidFill>
                  <a:srgbClr val="002060"/>
                </a:solidFill>
              </a:rPr>
              <a:t>Pode atingir o patrimônio atual e/ou o futuro.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57348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55763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sz="3400" b="1" dirty="0">
                <a:solidFill>
                  <a:srgbClr val="002060"/>
                </a:solidFill>
              </a:rPr>
              <a:t>TIPOS DE DANO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idx="1"/>
          </p:nvPr>
        </p:nvSpPr>
        <p:spPr>
          <a:xfrm>
            <a:off x="1326310" y="1772816"/>
            <a:ext cx="7200900" cy="3581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pt-BR" sz="3400" dirty="0">
                <a:solidFill>
                  <a:srgbClr val="002060"/>
                </a:solidFill>
              </a:rPr>
              <a:t>Dano </a:t>
            </a:r>
            <a:r>
              <a:rPr lang="pt-BR" sz="3400" b="1" dirty="0">
                <a:solidFill>
                  <a:srgbClr val="002060"/>
                </a:solidFill>
              </a:rPr>
              <a:t>Patrimonial </a:t>
            </a:r>
            <a:r>
              <a:rPr lang="pt-BR" sz="3400" dirty="0">
                <a:solidFill>
                  <a:srgbClr val="002060"/>
                </a:solidFill>
              </a:rPr>
              <a:t>– pode ser na forma de </a:t>
            </a:r>
            <a:r>
              <a:rPr lang="pt-BR" sz="3400" b="1" dirty="0">
                <a:solidFill>
                  <a:srgbClr val="002060"/>
                </a:solidFill>
              </a:rPr>
              <a:t>dano emergente </a:t>
            </a:r>
            <a:r>
              <a:rPr lang="pt-BR" sz="3400" dirty="0">
                <a:solidFill>
                  <a:srgbClr val="002060"/>
                </a:solidFill>
              </a:rPr>
              <a:t>e/ou </a:t>
            </a:r>
            <a:r>
              <a:rPr lang="pt-BR" sz="3400" b="1" dirty="0">
                <a:solidFill>
                  <a:srgbClr val="002060"/>
                </a:solidFill>
              </a:rPr>
              <a:t>lucro cessante.</a:t>
            </a:r>
            <a:r>
              <a:rPr lang="pt-BR" sz="3400" dirty="0">
                <a:solidFill>
                  <a:srgbClr val="002060"/>
                </a:solidFill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endParaRPr lang="pt-BR" sz="3400" dirty="0">
              <a:solidFill>
                <a:srgbClr val="002060"/>
              </a:solidFill>
            </a:endParaRPr>
          </a:p>
          <a:p>
            <a:pPr eaLnBrk="1" hangingPunct="1"/>
            <a:endParaRPr lang="pt-BR" sz="3400" dirty="0">
              <a:solidFill>
                <a:srgbClr val="002060"/>
              </a:solidFill>
            </a:endParaRPr>
          </a:p>
          <a:p>
            <a:pPr eaLnBrk="1" hangingPunct="1"/>
            <a:r>
              <a:rPr lang="pt-BR" sz="3400" dirty="0">
                <a:solidFill>
                  <a:srgbClr val="002060"/>
                </a:solidFill>
              </a:rPr>
              <a:t>Dano </a:t>
            </a:r>
            <a:r>
              <a:rPr lang="pt-BR" sz="3400" b="1" dirty="0">
                <a:solidFill>
                  <a:srgbClr val="002060"/>
                </a:solidFill>
              </a:rPr>
              <a:t>Extrapatrimonial </a:t>
            </a:r>
            <a:r>
              <a:rPr lang="pt-BR" sz="3400" dirty="0">
                <a:solidFill>
                  <a:srgbClr val="002060"/>
                </a:solidFill>
              </a:rPr>
              <a:t>–  </a:t>
            </a:r>
            <a:r>
              <a:rPr lang="pt-BR" sz="3400" b="1" dirty="0">
                <a:solidFill>
                  <a:srgbClr val="002060"/>
                </a:solidFill>
              </a:rPr>
              <a:t>dano moral </a:t>
            </a:r>
            <a:r>
              <a:rPr lang="pt-BR" sz="3400" dirty="0">
                <a:solidFill>
                  <a:srgbClr val="002060"/>
                </a:solidFill>
              </a:rPr>
              <a:t>e/ou </a:t>
            </a:r>
            <a:r>
              <a:rPr lang="pt-BR" sz="3400" b="1" dirty="0">
                <a:solidFill>
                  <a:srgbClr val="002060"/>
                </a:solidFill>
              </a:rPr>
              <a:t>perda de uma chance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58372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45673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567" y="510735"/>
            <a:ext cx="5937755" cy="118872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pt-BR" sz="3200" b="1" dirty="0">
                <a:solidFill>
                  <a:srgbClr val="002060"/>
                </a:solidFill>
              </a:rPr>
              <a:t>TIPOS DE DANO PATRIMONIAL</a:t>
            </a:r>
          </a:p>
        </p:txBody>
      </p:sp>
      <p:sp>
        <p:nvSpPr>
          <p:cNvPr id="59398" name="Rectangle 3"/>
          <p:cNvSpPr>
            <a:spLocks noGrp="1" noChangeArrowheads="1"/>
          </p:cNvSpPr>
          <p:nvPr>
            <p:ph idx="1"/>
          </p:nvPr>
        </p:nvSpPr>
        <p:spPr>
          <a:xfrm>
            <a:off x="1653103" y="1488170"/>
            <a:ext cx="5937755" cy="3101983"/>
          </a:xfrm>
        </p:spPr>
        <p:txBody>
          <a:bodyPr>
            <a:noAutofit/>
          </a:bodyPr>
          <a:lstStyle/>
          <a:p>
            <a:pPr eaLnBrk="1" hangingPunct="1"/>
            <a:r>
              <a:rPr lang="pt-BR" sz="3200" b="1" u="sng" dirty="0">
                <a:solidFill>
                  <a:srgbClr val="002060"/>
                </a:solidFill>
              </a:rPr>
              <a:t>Dano emergente</a:t>
            </a:r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dirty="0">
                <a:solidFill>
                  <a:srgbClr val="002060"/>
                </a:solidFill>
              </a:rPr>
              <a:t>–É o que resulta direta e imediatamente da conduta culposa do agente.</a:t>
            </a:r>
          </a:p>
          <a:p>
            <a:pPr eaLnBrk="1" hangingPunct="1"/>
            <a:r>
              <a:rPr lang="pt-BR" sz="3200" dirty="0">
                <a:solidFill>
                  <a:srgbClr val="002060"/>
                </a:solidFill>
              </a:rPr>
              <a:t>Representa tudo o que a vítima ou seus dependentes efetivamente perderam.</a:t>
            </a:r>
          </a:p>
          <a:p>
            <a:pPr eaLnBrk="1" hangingPunct="1"/>
            <a:r>
              <a:rPr lang="pt-BR" sz="3200" dirty="0">
                <a:solidFill>
                  <a:srgbClr val="002060"/>
                </a:solidFill>
              </a:rPr>
              <a:t>Indenização deverá ser integral e a vítima pode exigir que seja paga em uma única parcela.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59396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578909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sz="4000" b="1" dirty="0">
                <a:solidFill>
                  <a:srgbClr val="002060"/>
                </a:solidFill>
              </a:rPr>
              <a:t>TIPOS DE DANO PATRIMONIAL:</a:t>
            </a:r>
          </a:p>
        </p:txBody>
      </p:sp>
      <p:sp>
        <p:nvSpPr>
          <p:cNvPr id="60422" name="Rectangle 3"/>
          <p:cNvSpPr>
            <a:spLocks noGrp="1" noChangeArrowheads="1"/>
          </p:cNvSpPr>
          <p:nvPr>
            <p:ph idx="1"/>
          </p:nvPr>
        </p:nvSpPr>
        <p:spPr>
          <a:xfrm>
            <a:off x="1100871" y="1638300"/>
            <a:ext cx="7200900" cy="3581400"/>
          </a:xfrm>
        </p:spPr>
        <p:txBody>
          <a:bodyPr>
            <a:noAutofit/>
          </a:bodyPr>
          <a:lstStyle/>
          <a:p>
            <a:pPr eaLnBrk="1" hangingPunct="1"/>
            <a:endParaRPr lang="pt-BR" sz="3200" b="1" u="sng" dirty="0">
              <a:solidFill>
                <a:srgbClr val="002060"/>
              </a:solidFill>
            </a:endParaRPr>
          </a:p>
          <a:p>
            <a:pPr eaLnBrk="1" hangingPunct="1"/>
            <a:r>
              <a:rPr lang="pt-BR" sz="3200" b="1" u="sng" dirty="0">
                <a:solidFill>
                  <a:srgbClr val="002060"/>
                </a:solidFill>
              </a:rPr>
              <a:t>LUCRO CESSANTE</a:t>
            </a:r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dirty="0">
                <a:solidFill>
                  <a:srgbClr val="002060"/>
                </a:solidFill>
              </a:rPr>
              <a:t>– é aquilo que a vítima razoavelmente deixou de ganhar.</a:t>
            </a:r>
          </a:p>
          <a:p>
            <a:pPr eaLnBrk="1" hangingPunct="1"/>
            <a:r>
              <a:rPr lang="pt-BR" sz="3200" dirty="0">
                <a:solidFill>
                  <a:srgbClr val="002060"/>
                </a:solidFill>
              </a:rPr>
              <a:t>O valor da indenização deve ser calculado com base em </a:t>
            </a:r>
            <a:r>
              <a:rPr lang="pt-BR" sz="3200" b="1" dirty="0">
                <a:solidFill>
                  <a:srgbClr val="002060"/>
                </a:solidFill>
              </a:rPr>
              <a:t>hipóteses prováveis e não fantasiosas.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798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5616" y="476672"/>
            <a:ext cx="8001000" cy="495945"/>
          </a:xfrm>
        </p:spPr>
        <p:txBody>
          <a:bodyPr>
            <a:noAutofit/>
          </a:bodyPr>
          <a:lstStyle/>
          <a:p>
            <a:pPr eaLnBrk="1" hangingPunct="1"/>
            <a:r>
              <a:rPr lang="pt-BR" sz="3600" b="1" dirty="0">
                <a:solidFill>
                  <a:srgbClr val="002060"/>
                </a:solidFill>
              </a:rPr>
              <a:t>DANO EXTRAPATRIMONIAL - DANO MORAL – DEFINIÇÃO</a:t>
            </a:r>
          </a:p>
        </p:txBody>
      </p:sp>
      <p:sp>
        <p:nvSpPr>
          <p:cNvPr id="6144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pt-BR" sz="3200" b="1" u="sng" dirty="0">
                <a:solidFill>
                  <a:srgbClr val="002060"/>
                </a:solidFill>
              </a:rPr>
              <a:t>Dano moral</a:t>
            </a:r>
            <a:r>
              <a:rPr lang="pt-BR" sz="3200" b="1" dirty="0">
                <a:solidFill>
                  <a:srgbClr val="002060"/>
                </a:solidFill>
              </a:rPr>
              <a:t> </a:t>
            </a:r>
            <a:r>
              <a:rPr lang="pt-BR" sz="3200" dirty="0">
                <a:solidFill>
                  <a:srgbClr val="002060"/>
                </a:solidFill>
              </a:rPr>
              <a:t>– lesão ao patrimônio psíquico de uma pessoa. </a:t>
            </a:r>
          </a:p>
          <a:p>
            <a:pPr eaLnBrk="1" hangingPunct="1"/>
            <a:r>
              <a:rPr lang="pt-BR" sz="3200" dirty="0">
                <a:solidFill>
                  <a:srgbClr val="002060"/>
                </a:solidFill>
              </a:rPr>
              <a:t>É indenizável nos casos em que a vítima passa por dor, humilhação, vexame, sofrimento ou qualquer outro sentimento que fuja à normalidade ou interfira no comportamento psicológico.</a:t>
            </a:r>
          </a:p>
          <a:p>
            <a:pPr eaLnBrk="1" hangingPunct="1"/>
            <a:r>
              <a:rPr lang="pt-BR" sz="3200" dirty="0">
                <a:solidFill>
                  <a:srgbClr val="002060"/>
                </a:solidFill>
              </a:rPr>
              <a:t>É tudo que ofende de alguma forma a dignidade da pessoa humana.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791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Espaço Reservado para Número de Slide 5"/>
          <p:cNvSpPr txBox="1">
            <a:spLocks noGrp="1"/>
          </p:cNvSpPr>
          <p:nvPr/>
        </p:nvSpPr>
        <p:spPr bwMode="auto">
          <a:xfrm>
            <a:off x="6550591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b="1" dirty="0">
                <a:solidFill>
                  <a:srgbClr val="002060"/>
                </a:solidFill>
              </a:rPr>
              <a:t>DANO MORAL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811144"/>
            <a:ext cx="8540750" cy="4422775"/>
          </a:xfrm>
        </p:spPr>
        <p:txBody>
          <a:bodyPr>
            <a:normAutofit/>
          </a:bodyPr>
          <a:lstStyle/>
          <a:p>
            <a:pPr eaLnBrk="1" hangingPunct="1"/>
            <a:r>
              <a:rPr lang="pt-BR" sz="3400" dirty="0">
                <a:solidFill>
                  <a:srgbClr val="002060"/>
                </a:solidFill>
              </a:rPr>
              <a:t>O </a:t>
            </a:r>
            <a:r>
              <a:rPr lang="pt-BR" sz="3400" b="1" dirty="0">
                <a:solidFill>
                  <a:srgbClr val="002060"/>
                </a:solidFill>
              </a:rPr>
              <a:t>mero dissabor</a:t>
            </a:r>
            <a:r>
              <a:rPr lang="pt-BR" sz="3400" dirty="0">
                <a:solidFill>
                  <a:srgbClr val="002060"/>
                </a:solidFill>
              </a:rPr>
              <a:t>, aborrecimento, mágoa, irritação ou sensibilidade exacerbada da vítima não pode ser considerado como dano moral.</a:t>
            </a:r>
          </a:p>
          <a:p>
            <a:pPr eaLnBrk="1" hangingPunct="1"/>
            <a:r>
              <a:rPr lang="pt-BR" sz="3400" dirty="0">
                <a:solidFill>
                  <a:srgbClr val="002060"/>
                </a:solidFill>
              </a:rPr>
              <a:t>O Poder Judiciário  tem sido avesso à </a:t>
            </a:r>
            <a:r>
              <a:rPr lang="pt-BR" sz="3400" b="1" dirty="0">
                <a:solidFill>
                  <a:srgbClr val="002060"/>
                </a:solidFill>
              </a:rPr>
              <a:t>“indústria das indenizações”</a:t>
            </a:r>
            <a:r>
              <a:rPr lang="pt-BR" sz="3400" dirty="0">
                <a:solidFill>
                  <a:srgbClr val="002060"/>
                </a:solidFill>
              </a:rPr>
              <a:t>, embora em outros Estados ela já tenha se instalado.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920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pt-BR" b="1" dirty="0">
                <a:solidFill>
                  <a:srgbClr val="002060"/>
                </a:solidFill>
              </a:rPr>
              <a:t>DANO ESTÉTICO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idx="1"/>
          </p:nvPr>
        </p:nvSpPr>
        <p:spPr>
          <a:xfrm>
            <a:off x="1125956" y="1772816"/>
            <a:ext cx="7200900" cy="3581400"/>
          </a:xfrm>
        </p:spPr>
        <p:txBody>
          <a:bodyPr>
            <a:noAutofit/>
          </a:bodyPr>
          <a:lstStyle/>
          <a:p>
            <a:pPr eaLnBrk="1" hangingPunct="1"/>
            <a:r>
              <a:rPr lang="pt-BR" sz="2400" dirty="0">
                <a:solidFill>
                  <a:srgbClr val="002060"/>
                </a:solidFill>
              </a:rPr>
              <a:t>Para alguns estudiosos  é um </a:t>
            </a:r>
            <a:r>
              <a:rPr lang="pt-BR" sz="2400" b="1" dirty="0">
                <a:solidFill>
                  <a:srgbClr val="002060"/>
                </a:solidFill>
              </a:rPr>
              <a:t>tipo de dano moral.</a:t>
            </a:r>
          </a:p>
          <a:p>
            <a:pPr eaLnBrk="1" hangingPunct="1"/>
            <a:r>
              <a:rPr lang="pt-BR" sz="2400" dirty="0">
                <a:solidFill>
                  <a:srgbClr val="002060"/>
                </a:solidFill>
              </a:rPr>
              <a:t>Essa posição não é pacífica, mas parece a melhor.</a:t>
            </a:r>
          </a:p>
          <a:p>
            <a:pPr eaLnBrk="1" hangingPunct="1"/>
            <a:r>
              <a:rPr lang="pt-BR" sz="2400" dirty="0">
                <a:solidFill>
                  <a:srgbClr val="002060"/>
                </a:solidFill>
              </a:rPr>
              <a:t>É pacífica nos tribunais brasileiros a posição de que o dano estético não é apenas um direito subjetivo de atrizes, atores ou de profissionais que necessitam da estética corporal para suas atividades cotidianas.</a:t>
            </a:r>
          </a:p>
          <a:p>
            <a:pPr eaLnBrk="1" hangingPunct="1"/>
            <a:r>
              <a:rPr lang="pt-BR" sz="2400" dirty="0">
                <a:solidFill>
                  <a:srgbClr val="002060"/>
                </a:solidFill>
              </a:rPr>
              <a:t>As pessoas comuns mesmo com idade mais avançada, também tem direito ao pedido de dano estético.</a:t>
            </a:r>
          </a:p>
          <a:p>
            <a:pPr eaLnBrk="1" hangingPunct="1"/>
            <a:r>
              <a:rPr lang="pt-BR" sz="2400" dirty="0">
                <a:solidFill>
                  <a:srgbClr val="002060"/>
                </a:solidFill>
              </a:rPr>
              <a:t>Pode ser convertido em </a:t>
            </a:r>
            <a:r>
              <a:rPr lang="pt-BR" sz="2400" b="1" dirty="0">
                <a:solidFill>
                  <a:srgbClr val="002060"/>
                </a:solidFill>
              </a:rPr>
              <a:t>dano material.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504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pt-BR" sz="4000" b="1" dirty="0">
                <a:solidFill>
                  <a:srgbClr val="002060"/>
                </a:solidFill>
              </a:rPr>
              <a:t>PERDA DE UMA CHANCE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idx="1"/>
          </p:nvPr>
        </p:nvSpPr>
        <p:spPr>
          <a:xfrm>
            <a:off x="1047158" y="1428750"/>
            <a:ext cx="7200900" cy="3581400"/>
          </a:xfrm>
        </p:spPr>
        <p:txBody>
          <a:bodyPr>
            <a:noAutofit/>
          </a:bodyPr>
          <a:lstStyle/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É um conceito novo no direito brasileiro.</a:t>
            </a: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Na perda de uma chance o autor do dano é responsabilizado por ter privado alguém da obtenção da oportunidade de chance de um resultado útil, ou somente de ter privado esta pessoa de evitar um prejuízo.</a:t>
            </a:r>
          </a:p>
          <a:p>
            <a:pPr eaLnBrk="1" hangingPunct="1"/>
            <a:r>
              <a:rPr lang="pt-BR" sz="2800" dirty="0">
                <a:solidFill>
                  <a:srgbClr val="002060"/>
                </a:solidFill>
              </a:rPr>
              <a:t>A indenização deve ser proporcional às probabilidades de obtenção do resultado final esperado, o que é nem sempre é fácil de ser calculado.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111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F9420-8C6A-7091-8473-225CA974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solidFill>
                  <a:srgbClr val="002060"/>
                </a:solidFill>
              </a:rPr>
              <a:t>Dano Social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4DAE9F-5E82-A6BC-68E2-2BB363E2C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ctr"/>
            <a:r>
              <a:rPr lang="pt-BR" sz="2800" b="0" i="0" u="none" strike="noStrike" dirty="0">
                <a:solidFill>
                  <a:srgbClr val="002060"/>
                </a:solidFill>
                <a:effectLst/>
                <a:latin typeface="Google Sans"/>
              </a:rPr>
              <a:t>É um tipo de dano reparável que resulta de uma conduta socialmente reprovável, que pode ser praticada por um particular ou pelo Estado. O dano social diminui a qualidade de vida da sociedade e não se confunde com os danos materiais, morais ou estéticos. 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2FDB36-CC94-AB95-7862-78A112A0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>
                <a:solidFill>
                  <a:srgbClr val="002060"/>
                </a:solidFill>
              </a:rPr>
              <a:pPr/>
              <a:t>22</a:t>
            </a:fld>
            <a:endParaRPr lang="pt-BR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009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Espaço Reservado para Número de Slide 5"/>
          <p:cNvSpPr txBox="1">
            <a:spLocks noGrp="1"/>
          </p:cNvSpPr>
          <p:nvPr/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eaLnBrk="1" hangingPunct="1"/>
            <a:endParaRPr lang="pt-BR" sz="1200" dirty="0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pt-BR" sz="3600" b="1" dirty="0">
                <a:solidFill>
                  <a:srgbClr val="002060"/>
                </a:solidFill>
              </a:rPr>
              <a:t>LIQUIDAÇÃO DO DANO</a:t>
            </a:r>
            <a:endParaRPr lang="pt-BR" sz="3600" b="1" dirty="0">
              <a:solidFill>
                <a:schemeClr val="tx1"/>
              </a:solidFill>
            </a:endParaRPr>
          </a:p>
        </p:txBody>
      </p:sp>
      <p:sp>
        <p:nvSpPr>
          <p:cNvPr id="66566" name="Rectangle 3"/>
          <p:cNvSpPr>
            <a:spLocks noGrp="1" noChangeArrowheads="1"/>
          </p:cNvSpPr>
          <p:nvPr>
            <p:ph idx="1"/>
          </p:nvPr>
        </p:nvSpPr>
        <p:spPr>
          <a:xfrm>
            <a:off x="1111576" y="1556792"/>
            <a:ext cx="7200900" cy="3581400"/>
          </a:xfrm>
        </p:spPr>
        <p:txBody>
          <a:bodyPr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pt-BR" sz="2800" dirty="0">
                <a:solidFill>
                  <a:srgbClr val="002060"/>
                </a:solidFill>
              </a:rPr>
              <a:t>Art. 944 – A indenização mede-se pela </a:t>
            </a:r>
            <a:r>
              <a:rPr lang="pt-BR" sz="2800" b="1" dirty="0">
                <a:solidFill>
                  <a:srgbClr val="002060"/>
                </a:solidFill>
              </a:rPr>
              <a:t>extensão do dano.</a:t>
            </a:r>
          </a:p>
          <a:p>
            <a:pPr eaLnBrk="1" hangingPunct="1">
              <a:lnSpc>
                <a:spcPct val="110000"/>
              </a:lnSpc>
            </a:pPr>
            <a:r>
              <a:rPr lang="pt-BR" sz="2800" dirty="0">
                <a:solidFill>
                  <a:srgbClr val="002060"/>
                </a:solidFill>
              </a:rPr>
              <a:t>Os danos materiais (dano emergente ou lucro cessante) devem ser indenizados em uma única parcela.</a:t>
            </a:r>
          </a:p>
          <a:p>
            <a:pPr eaLnBrk="1" hangingPunct="1">
              <a:lnSpc>
                <a:spcPct val="110000"/>
              </a:lnSpc>
            </a:pPr>
            <a:r>
              <a:rPr lang="pt-BR" sz="2800" dirty="0">
                <a:solidFill>
                  <a:srgbClr val="002060"/>
                </a:solidFill>
              </a:rPr>
              <a:t>O cálculo será feito a partir da avaliação da extensão do dano, o que às vezes implica na realização de prova pericial (contábil, médica, de engenharia, TI entre outras).</a:t>
            </a:r>
          </a:p>
          <a:p>
            <a:pPr eaLnBrk="1" hangingPunct="1">
              <a:buFont typeface="Wingdings" pitchFamily="2" charset="2"/>
              <a:buNone/>
            </a:pPr>
            <a:endParaRPr lang="pt-BR" sz="2800" dirty="0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8701D-0E37-4120-9C99-FCFD436DF8F9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108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Espaço Reservado para Conteúdo 1">
            <a:extLst>
              <a:ext uri="{FF2B5EF4-FFF2-40B4-BE49-F238E27FC236}">
                <a16:creationId xmlns:a16="http://schemas.microsoft.com/office/drawing/2014/main" id="{D44763ED-0A1E-7141-8289-D82C76AEA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pt-BR" altLang="pt-BR" dirty="0">
              <a:solidFill>
                <a:srgbClr val="002060"/>
              </a:solidFill>
            </a:endParaRPr>
          </a:p>
          <a:p>
            <a:pPr algn="just" eaLnBrk="1" hangingPunct="1">
              <a:buFont typeface="Wingdings 3" pitchFamily="2" charset="2"/>
              <a:buNone/>
            </a:pPr>
            <a:r>
              <a:rPr lang="pt-BR" altLang="pt-BR" sz="2800" b="1" dirty="0">
                <a:solidFill>
                  <a:srgbClr val="002060"/>
                </a:solidFill>
              </a:rPr>
              <a:t> “Art. 206. Prescreve: § 3</a:t>
            </a:r>
            <a:r>
              <a:rPr lang="pt-BR" altLang="pt-BR" sz="2800" b="1" u="sng" baseline="30000" dirty="0">
                <a:solidFill>
                  <a:srgbClr val="002060"/>
                </a:solidFill>
              </a:rPr>
              <a:t>o</a:t>
            </a:r>
            <a:r>
              <a:rPr lang="pt-BR" altLang="pt-BR" sz="2800" b="1" dirty="0">
                <a:solidFill>
                  <a:srgbClr val="002060"/>
                </a:solidFill>
              </a:rPr>
              <a:t> </a:t>
            </a:r>
            <a:r>
              <a:rPr lang="pt-BR" altLang="pt-BR" sz="2800" b="1" dirty="0">
                <a:solidFill>
                  <a:srgbClr val="FF0000"/>
                </a:solidFill>
              </a:rPr>
              <a:t>Em três anos</a:t>
            </a:r>
            <a:r>
              <a:rPr lang="pt-BR" altLang="pt-BR" sz="2800" b="1" dirty="0">
                <a:solidFill>
                  <a:srgbClr val="002060"/>
                </a:solidFill>
              </a:rPr>
              <a:t>: V - a pretensão de reparação civil;”</a:t>
            </a:r>
          </a:p>
          <a:p>
            <a:pPr algn="just" eaLnBrk="1" hangingPunct="1">
              <a:buFont typeface="Wingdings 3" pitchFamily="2" charset="2"/>
              <a:buNone/>
            </a:pPr>
            <a:r>
              <a:rPr lang="pt-BR" altLang="pt-BR" b="1" dirty="0">
                <a:solidFill>
                  <a:srgbClr val="002060"/>
                </a:solidFill>
              </a:rPr>
              <a:t>  </a:t>
            </a:r>
          </a:p>
          <a:p>
            <a:pPr eaLnBrk="1" hangingPunct="1"/>
            <a:endParaRPr lang="pt-BR" altLang="pt-BR" dirty="0">
              <a:solidFill>
                <a:srgbClr val="00206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F391CC3-CCF8-5448-9991-EFA8D8AC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pt-BR" sz="4000" dirty="0">
                <a:solidFill>
                  <a:srgbClr val="002060"/>
                </a:solidFill>
              </a:rPr>
              <a:t>RESPONSABILIDADE CIVIL</a:t>
            </a:r>
            <a:br>
              <a:rPr lang="pt-BR" sz="4000" dirty="0">
                <a:solidFill>
                  <a:srgbClr val="002060"/>
                </a:solidFill>
              </a:rPr>
            </a:br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16387" name="Espaço Reservado para Número de Slide 3">
            <a:extLst>
              <a:ext uri="{FF2B5EF4-FFF2-40B4-BE49-F238E27FC236}">
                <a16:creationId xmlns:a16="http://schemas.microsoft.com/office/drawing/2014/main" id="{E0E74811-8285-5B46-9D33-91252DEE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  <a:cs typeface="Arial" panose="020B0604020202020204" pitchFamily="34" charset="0"/>
              </a:defRPr>
            </a:lvl9pPr>
          </a:lstStyle>
          <a:p>
            <a:fld id="{EF7D8425-80C5-BB4F-BB64-6C7A8007C03E}" type="slidenum">
              <a:rPr lang="pt-BR" altLang="pt-BR">
                <a:solidFill>
                  <a:srgbClr val="002060"/>
                </a:solidFill>
              </a:rPr>
              <a:pPr/>
              <a:t>24</a:t>
            </a:fld>
            <a:endParaRPr lang="pt-BR" altLang="pt-BR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929025"/>
      </p:ext>
    </p:extLst>
  </p:cSld>
  <p:clrMapOvr>
    <a:masterClrMapping/>
  </p:clrMapOvr>
</p:sld>
</file>

<file path=ppt/theme/theme1.xml><?xml version="1.0" encoding="utf-8"?>
<a:theme xmlns:a="http://schemas.openxmlformats.org/drawingml/2006/main" name="Cortar">
  <a:themeElements>
    <a:clrScheme name="Cortar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ortar">
      <a:majorFont>
        <a:latin typeface="Franklin Gothic Book" panose="020B0503020102020204"/>
        <a:ea typeface=""/>
        <a:cs typeface=""/>
      </a:majorFont>
      <a:minorFont>
        <a:latin typeface="Franklin Gothic Book" panose="020B0503020102020204"/>
        <a:ea typeface=""/>
        <a:cs typeface=""/>
      </a:minorFont>
    </a:fontScheme>
    <a:fmtScheme name="Corta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4785</TotalTime>
  <Words>1306</Words>
  <Application>Microsoft Office PowerPoint</Application>
  <PresentationFormat>Apresentação na tela (4:3)</PresentationFormat>
  <Paragraphs>135</Paragraphs>
  <Slides>24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Calibri</vt:lpstr>
      <vt:lpstr>Franklin Gothic Book</vt:lpstr>
      <vt:lpstr>Google Sans</vt:lpstr>
      <vt:lpstr>Wingdings</vt:lpstr>
      <vt:lpstr>Wingdings 3</vt:lpstr>
      <vt:lpstr>Cortar</vt:lpstr>
      <vt:lpstr>RESPONSABILIDADE CIVIL</vt:lpstr>
      <vt:lpstr>SOCIEDADE CONTEMPORÂNEA COMO SOCIEDADE DE RISCO</vt:lpstr>
      <vt:lpstr>RESPONSABILIDADE CIVIL</vt:lpstr>
      <vt:lpstr>RESPONSABILIDADE CIVIL </vt:lpstr>
      <vt:lpstr>DIREITO BRASILEIRO CONTEMPORÂNEO</vt:lpstr>
      <vt:lpstr>RESPONSABILIDADE CIVIL OBJETIVA E SUBJETIVA </vt:lpstr>
      <vt:lpstr>RESP. CIVIL OBJETIVA</vt:lpstr>
      <vt:lpstr>RESPONSABILIDADE OBJETIVA NO CÓDIGO CIVIL BRASILEIRO</vt:lpstr>
      <vt:lpstr>A RESPONSABILIDADE CIVIL NO CÓDIGO DE DEFESA DO CONSUMIDOR</vt:lpstr>
      <vt:lpstr>RC SUBJETIVA NO CÓDIGO CIVIL BRASILEIRO</vt:lpstr>
      <vt:lpstr>ELEMENTOS DA RC SUBJETIVA:</vt:lpstr>
      <vt:lpstr>RESPONSABILIDADE CIVIL</vt:lpstr>
      <vt:lpstr>RESPONSABILIDADE CIVIL </vt:lpstr>
      <vt:lpstr>DANO - ELEMENTO ESSENCIAL DA RC</vt:lpstr>
      <vt:lpstr>TIPOS DE DANO</vt:lpstr>
      <vt:lpstr>TIPOS DE DANO PATRIMONIAL</vt:lpstr>
      <vt:lpstr>TIPOS DE DANO PATRIMONIAL:</vt:lpstr>
      <vt:lpstr>DANO EXTRAPATRIMONIAL - DANO MORAL – DEFINIÇÃO</vt:lpstr>
      <vt:lpstr>DANO MORAL</vt:lpstr>
      <vt:lpstr>DANO ESTÉTICO</vt:lpstr>
      <vt:lpstr>PERDA DE UMA CHANCE</vt:lpstr>
      <vt:lpstr>Dano Social</vt:lpstr>
      <vt:lpstr>LIQUIDAÇÃO DO DANO</vt:lpstr>
      <vt:lpstr>RESPONSABILIDADE CIVIL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ASPECTOS RELEVANTES DA RESPONSABILIDADE CIVIL NO DIREITO BRASILEIRO</dc:title>
  <dc:subject/>
  <dc:creator>Alex </dc:creator>
  <cp:keywords/>
  <dc:description/>
  <cp:lastModifiedBy>Alex Coelho</cp:lastModifiedBy>
  <cp:revision>152</cp:revision>
  <dcterms:created xsi:type="dcterms:W3CDTF">2011-05-09T10:35:19Z</dcterms:created>
  <dcterms:modified xsi:type="dcterms:W3CDTF">2026-05-09T10:30:54Z</dcterms:modified>
  <cp:category/>
</cp:coreProperties>
</file>